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3" r:id="rId5"/>
    <p:sldId id="264" r:id="rId6"/>
    <p:sldId id="265" r:id="rId7"/>
    <p:sldId id="266" r:id="rId8"/>
    <p:sldId id="267" r:id="rId9"/>
    <p:sldId id="268" r:id="rId10"/>
    <p:sldId id="256" r:id="rId11"/>
    <p:sldId id="261" r:id="rId12"/>
    <p:sldId id="257"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71A0-D369-B63A-84EC-13FCF6C35D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0F043C-4E9F-C120-7034-CD768C7564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1F3B47-D930-36E7-C0CF-C5F0699B2FA5}"/>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5" name="Footer Placeholder 4">
            <a:extLst>
              <a:ext uri="{FF2B5EF4-FFF2-40B4-BE49-F238E27FC236}">
                <a16:creationId xmlns:a16="http://schemas.microsoft.com/office/drawing/2014/main" id="{B1CED8DE-E94D-9A88-F38D-7F0C3A7CEB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2CBD9-9978-E07B-ECDB-4A224BE651BD}"/>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34623302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094BE-D9AC-F80B-0DCA-D397773551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BA219F-3D99-72C7-3B86-0074D9105B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87FC81-6B4E-80BA-0018-3F30C4CF9A92}"/>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5" name="Footer Placeholder 4">
            <a:extLst>
              <a:ext uri="{FF2B5EF4-FFF2-40B4-BE49-F238E27FC236}">
                <a16:creationId xmlns:a16="http://schemas.microsoft.com/office/drawing/2014/main" id="{88211839-D812-AB4D-7DFF-41E8C5652F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1CC4BD-E958-3BD1-F419-29B4A9D95BED}"/>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40300635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5C0B4-BC35-1AF5-2DEB-830978464B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FAAE70-9FE8-01E1-077D-B6901ABA42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1133DE-CFDB-9D33-01A9-D7D7B0F0AE55}"/>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5" name="Footer Placeholder 4">
            <a:extLst>
              <a:ext uri="{FF2B5EF4-FFF2-40B4-BE49-F238E27FC236}">
                <a16:creationId xmlns:a16="http://schemas.microsoft.com/office/drawing/2014/main" id="{0434CF96-0F11-236B-5118-32D022A113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8C2359-D828-2D16-F645-C1409EB7557C}"/>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1863980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53DB-21BB-CB5D-9743-106905C64F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272DC1-4F02-1BD1-89CA-3158B65BEB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05B898-8854-8D9D-85E7-C3E21C7515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35443B-8174-D035-9C29-C00ED9D558D9}"/>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6" name="Footer Placeholder 5">
            <a:extLst>
              <a:ext uri="{FF2B5EF4-FFF2-40B4-BE49-F238E27FC236}">
                <a16:creationId xmlns:a16="http://schemas.microsoft.com/office/drawing/2014/main" id="{7CAA90DD-14CE-F4E9-018B-95FC52F7D5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EBDF54-46F8-BA69-7D0F-FD01BE8EB09F}"/>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32150900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EAB6E-605B-18A1-1F1A-8DDC2C43AD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D73022-1F12-698D-1B04-40EBB9D7DB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D94DDE-1529-788D-1E6F-9A57A7854B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DF8362-F6E1-D52B-23D5-98C005BCC4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621699-FFF0-742F-5B4C-B973140A52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A017C9-2F58-8F95-3733-B7A53045F96A}"/>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8" name="Footer Placeholder 7">
            <a:extLst>
              <a:ext uri="{FF2B5EF4-FFF2-40B4-BE49-F238E27FC236}">
                <a16:creationId xmlns:a16="http://schemas.microsoft.com/office/drawing/2014/main" id="{8DC40EAB-D12B-3F8D-7EB1-C7FEAEC4DB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3D1032-6611-459D-68BE-59B39D212FF5}"/>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3552797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B7283-126D-8EEF-BD49-7D8A0497EA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2BE35E-CAFA-DC7F-74D7-DB15E9117095}"/>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4" name="Footer Placeholder 3">
            <a:extLst>
              <a:ext uri="{FF2B5EF4-FFF2-40B4-BE49-F238E27FC236}">
                <a16:creationId xmlns:a16="http://schemas.microsoft.com/office/drawing/2014/main" id="{526D345F-6ED5-FA3A-371A-945E927CFA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E32F38-855B-A1A0-6CD9-6533553F7637}"/>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12165213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AFCC91-954A-6ECD-8F86-94D9BA9357B2}"/>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3" name="Footer Placeholder 2">
            <a:extLst>
              <a:ext uri="{FF2B5EF4-FFF2-40B4-BE49-F238E27FC236}">
                <a16:creationId xmlns:a16="http://schemas.microsoft.com/office/drawing/2014/main" id="{ADFCC8F8-0AC7-7A9F-CF9C-867E138E87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3E49AD-2490-B257-A53A-6DB4F627668D}"/>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7842564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76F60-E298-4FE5-00F6-10DB1EE1CC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80288A-4E01-9CE4-4234-9539E69050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D15A38-5D74-E08B-692E-5D1C22F6C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643A9-320E-2CBC-1040-275E471F7883}"/>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6" name="Footer Placeholder 5">
            <a:extLst>
              <a:ext uri="{FF2B5EF4-FFF2-40B4-BE49-F238E27FC236}">
                <a16:creationId xmlns:a16="http://schemas.microsoft.com/office/drawing/2014/main" id="{C9731BBE-2E51-2997-30E1-AD13D3A27F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EA5423-818B-1A18-EF87-DC339CB2B4C7}"/>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27157799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7E46-4D5A-089C-F67A-5B3DBB7D24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7261CB-03CE-03C8-0D70-A2C522F70C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388892-C60D-4CD7-C4F6-5BF25ECA9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290318-2C12-A212-76EE-C68417F53EAE}"/>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6" name="Footer Placeholder 5">
            <a:extLst>
              <a:ext uri="{FF2B5EF4-FFF2-40B4-BE49-F238E27FC236}">
                <a16:creationId xmlns:a16="http://schemas.microsoft.com/office/drawing/2014/main" id="{F81444E6-8A30-2E3D-26BD-305C14E666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F75628-681C-14A0-E802-7365F858D5F8}"/>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19640716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C990D-B81A-CCC5-4A93-3CEAB9712B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8D27BA-CBCC-7DC8-89F4-95C086B43C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06086A-0DA8-8638-6F85-01188B53D62E}"/>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5" name="Footer Placeholder 4">
            <a:extLst>
              <a:ext uri="{FF2B5EF4-FFF2-40B4-BE49-F238E27FC236}">
                <a16:creationId xmlns:a16="http://schemas.microsoft.com/office/drawing/2014/main" id="{4E67A518-7FB5-CE2E-04E4-E6EEA670C8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6D6A9-C1E3-4CF4-2264-07B225C2A3CE}"/>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1438468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C1F633-9F3B-97B3-C97A-7CCAD743C7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FEA533-E01D-D6B5-F72D-E601613DBC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CE3645-8923-DA07-76ED-9F711F8922B0}"/>
              </a:ext>
            </a:extLst>
          </p:cNvPr>
          <p:cNvSpPr>
            <a:spLocks noGrp="1"/>
          </p:cNvSpPr>
          <p:nvPr>
            <p:ph type="dt" sz="half" idx="10"/>
          </p:nvPr>
        </p:nvSpPr>
        <p:spPr/>
        <p:txBody>
          <a:bodyPr/>
          <a:lstStyle/>
          <a:p>
            <a:fld id="{81CA88AE-549C-4E8E-B2A5-D030B49BB885}" type="datetimeFigureOut">
              <a:rPr lang="en-IN" smtClean="0"/>
              <a:t>09-09-2026</a:t>
            </a:fld>
            <a:endParaRPr lang="en-IN"/>
          </a:p>
        </p:txBody>
      </p:sp>
      <p:sp>
        <p:nvSpPr>
          <p:cNvPr id="5" name="Footer Placeholder 4">
            <a:extLst>
              <a:ext uri="{FF2B5EF4-FFF2-40B4-BE49-F238E27FC236}">
                <a16:creationId xmlns:a16="http://schemas.microsoft.com/office/drawing/2014/main" id="{50DB06AE-77BB-4E1A-DD49-9EE50C4D4D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DD9136-BC07-6D29-1D4E-54672CBDAF6B}"/>
              </a:ext>
            </a:extLst>
          </p:cNvPr>
          <p:cNvSpPr>
            <a:spLocks noGrp="1"/>
          </p:cNvSpPr>
          <p:nvPr>
            <p:ph type="sldNum" sz="quarter" idx="12"/>
          </p:nvPr>
        </p:nvSpPr>
        <p:spPr/>
        <p:txBody>
          <a:bodyPr/>
          <a:lstStyle/>
          <a:p>
            <a:fld id="{41CC7EE7-9462-4D83-BAB0-188218CDD535}" type="slidenum">
              <a:rPr lang="en-IN" smtClean="0"/>
              <a:t>‹#›</a:t>
            </a:fld>
            <a:endParaRPr lang="en-IN"/>
          </a:p>
        </p:txBody>
      </p:sp>
    </p:spTree>
    <p:extLst>
      <p:ext uri="{BB962C8B-B14F-4D97-AF65-F5344CB8AC3E}">
        <p14:creationId xmlns:p14="http://schemas.microsoft.com/office/powerpoint/2010/main" val="725292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954597-BABA-8598-140B-58BEF9BBB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5B8924-C520-75FF-7A8F-CC2F5EB0FC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50E69-30CF-4CA1-B7EE-0DA03663F2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CA88AE-549C-4E8E-B2A5-D030B49BB885}" type="datetimeFigureOut">
              <a:rPr lang="en-IN" smtClean="0"/>
              <a:t>09-09-2026</a:t>
            </a:fld>
            <a:endParaRPr lang="en-IN"/>
          </a:p>
        </p:txBody>
      </p:sp>
      <p:sp>
        <p:nvSpPr>
          <p:cNvPr id="5" name="Footer Placeholder 4">
            <a:extLst>
              <a:ext uri="{FF2B5EF4-FFF2-40B4-BE49-F238E27FC236}">
                <a16:creationId xmlns:a16="http://schemas.microsoft.com/office/drawing/2014/main" id="{9282AD18-83F4-5499-CA66-13700A252E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987B55C-205C-6371-6313-25404E92E0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CC7EE7-9462-4D83-BAB0-188218CDD535}" type="slidenum">
              <a:rPr lang="en-IN" smtClean="0"/>
              <a:t>‹#›</a:t>
            </a:fld>
            <a:endParaRPr lang="en-IN"/>
          </a:p>
        </p:txBody>
      </p:sp>
    </p:spTree>
    <p:extLst>
      <p:ext uri="{BB962C8B-B14F-4D97-AF65-F5344CB8AC3E}">
        <p14:creationId xmlns:p14="http://schemas.microsoft.com/office/powerpoint/2010/main" val="2663995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10" Type="http://schemas.openxmlformats.org/officeDocument/2006/relationships/image" Target="../media/image11.jpeg"/><Relationship Id="rId4" Type="http://schemas.openxmlformats.org/officeDocument/2006/relationships/image" Target="../media/image5.jp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E826CC5A-B95A-BA8C-AD7B-7CD6346F918A}"/>
              </a:ext>
            </a:extLst>
          </p:cNvPr>
          <p:cNvPicPr>
            <a:picLocks noChangeAspect="1"/>
          </p:cNvPicPr>
          <p:nvPr/>
        </p:nvPicPr>
        <p:blipFill>
          <a:blip r:embed="rId2"/>
          <a:srcRect b="19"/>
          <a:stretch>
            <a:fillRect/>
          </a:stretch>
        </p:blipFill>
        <p:spPr>
          <a:xfrm>
            <a:off x="20" y="0"/>
            <a:ext cx="12191980" cy="6856718"/>
          </a:xfrm>
          <a:prstGeom prst="rect">
            <a:avLst/>
          </a:prstGeom>
        </p:spPr>
      </p:pic>
      <p:sp>
        <p:nvSpPr>
          <p:cNvPr id="7" name="TextBox 6">
            <a:extLst>
              <a:ext uri="{FF2B5EF4-FFF2-40B4-BE49-F238E27FC236}">
                <a16:creationId xmlns:a16="http://schemas.microsoft.com/office/drawing/2014/main" id="{6D294280-38A3-F7A2-9574-8A7AFB276A9F}"/>
              </a:ext>
            </a:extLst>
          </p:cNvPr>
          <p:cNvSpPr txBox="1"/>
          <p:nvPr/>
        </p:nvSpPr>
        <p:spPr>
          <a:xfrm>
            <a:off x="856649" y="231005"/>
            <a:ext cx="2252310" cy="400110"/>
          </a:xfrm>
          <a:prstGeom prst="rect">
            <a:avLst/>
          </a:prstGeom>
          <a:noFill/>
        </p:spPr>
        <p:txBody>
          <a:bodyPr wrap="square" rtlCol="0">
            <a:spAutoFit/>
          </a:bodyPr>
          <a:lstStyle/>
          <a:p>
            <a:r>
              <a:rPr lang="en-IN" sz="2000" b="1" u="sng" dirty="0">
                <a:effectLst>
                  <a:outerShdw blurRad="38100" dist="38100" dir="2700000" algn="tl">
                    <a:srgbClr val="000000">
                      <a:alpha val="43137"/>
                    </a:srgbClr>
                  </a:outerShdw>
                </a:effectLst>
              </a:rPr>
              <a:t>MINI PROJECT - I</a:t>
            </a:r>
          </a:p>
        </p:txBody>
      </p:sp>
      <p:sp>
        <p:nvSpPr>
          <p:cNvPr id="8" name="TextBox 7">
            <a:extLst>
              <a:ext uri="{FF2B5EF4-FFF2-40B4-BE49-F238E27FC236}">
                <a16:creationId xmlns:a16="http://schemas.microsoft.com/office/drawing/2014/main" id="{51F8DDED-7F53-CF1A-C15B-AD8C1362B6A3}"/>
              </a:ext>
            </a:extLst>
          </p:cNvPr>
          <p:cNvSpPr txBox="1"/>
          <p:nvPr/>
        </p:nvSpPr>
        <p:spPr>
          <a:xfrm>
            <a:off x="163629" y="3166712"/>
            <a:ext cx="4870383" cy="3416320"/>
          </a:xfrm>
          <a:prstGeom prst="rect">
            <a:avLst/>
          </a:prstGeom>
          <a:noFill/>
        </p:spPr>
        <p:txBody>
          <a:bodyPr wrap="square" rtlCol="0">
            <a:spAutoFit/>
          </a:bodyPr>
          <a:lstStyle/>
          <a:p>
            <a:r>
              <a:rPr lang="en-IN" b="1" dirty="0"/>
              <a:t>Members:</a:t>
            </a:r>
          </a:p>
          <a:p>
            <a:r>
              <a:rPr lang="en-IN" dirty="0"/>
              <a:t>1.Parshuram </a:t>
            </a:r>
            <a:r>
              <a:rPr lang="en-IN" dirty="0" err="1"/>
              <a:t>Ghodake</a:t>
            </a:r>
            <a:r>
              <a:rPr lang="en-IN" dirty="0"/>
              <a:t> – A15</a:t>
            </a:r>
          </a:p>
          <a:p>
            <a:r>
              <a:rPr lang="en-IN" dirty="0"/>
              <a:t> [2526UAI030]</a:t>
            </a:r>
          </a:p>
          <a:p>
            <a:endParaRPr lang="en-IN" dirty="0"/>
          </a:p>
          <a:p>
            <a:r>
              <a:rPr lang="en-IN" dirty="0"/>
              <a:t>2.Ajit </a:t>
            </a:r>
            <a:r>
              <a:rPr lang="en-IN" dirty="0" err="1"/>
              <a:t>Jamadade</a:t>
            </a:r>
            <a:r>
              <a:rPr lang="en-IN" dirty="0"/>
              <a:t> – A18 </a:t>
            </a:r>
          </a:p>
          <a:p>
            <a:r>
              <a:rPr lang="en-IN" dirty="0"/>
              <a:t>[2526UJAI043]</a:t>
            </a:r>
          </a:p>
          <a:p>
            <a:endParaRPr lang="en-IN" dirty="0"/>
          </a:p>
          <a:p>
            <a:r>
              <a:rPr lang="en-IN" dirty="0"/>
              <a:t>3.Rehan Jamadar – A19</a:t>
            </a:r>
          </a:p>
          <a:p>
            <a:r>
              <a:rPr lang="en-IN" dirty="0"/>
              <a:t> [2526UJAI192]</a:t>
            </a:r>
          </a:p>
          <a:p>
            <a:endParaRPr lang="en-IN" dirty="0"/>
          </a:p>
          <a:p>
            <a:r>
              <a:rPr lang="en-IN" dirty="0"/>
              <a:t>4.Harsh </a:t>
            </a:r>
            <a:r>
              <a:rPr lang="en-IN" dirty="0" err="1"/>
              <a:t>Bhople</a:t>
            </a:r>
            <a:r>
              <a:rPr lang="en-IN" dirty="0"/>
              <a:t> – A45</a:t>
            </a:r>
          </a:p>
          <a:p>
            <a:r>
              <a:rPr lang="en-IN" dirty="0"/>
              <a:t> [2526UAI122]</a:t>
            </a:r>
          </a:p>
        </p:txBody>
      </p:sp>
      <p:sp>
        <p:nvSpPr>
          <p:cNvPr id="9" name="TextBox 8">
            <a:extLst>
              <a:ext uri="{FF2B5EF4-FFF2-40B4-BE49-F238E27FC236}">
                <a16:creationId xmlns:a16="http://schemas.microsoft.com/office/drawing/2014/main" id="{3B3027E0-0115-8691-21D6-3D82D2CA0B7C}"/>
              </a:ext>
            </a:extLst>
          </p:cNvPr>
          <p:cNvSpPr txBox="1"/>
          <p:nvPr/>
        </p:nvSpPr>
        <p:spPr>
          <a:xfrm>
            <a:off x="9169668" y="6094556"/>
            <a:ext cx="2733574" cy="646331"/>
          </a:xfrm>
          <a:prstGeom prst="rect">
            <a:avLst/>
          </a:prstGeom>
          <a:noFill/>
        </p:spPr>
        <p:txBody>
          <a:bodyPr wrap="square" rtlCol="0">
            <a:spAutoFit/>
          </a:bodyPr>
          <a:lstStyle/>
          <a:p>
            <a:r>
              <a:rPr lang="en-IN" b="1" dirty="0"/>
              <a:t>Under Guidance: </a:t>
            </a:r>
          </a:p>
          <a:p>
            <a:r>
              <a:rPr lang="en-IN" dirty="0"/>
              <a:t>Amruta Mam &amp; Nikhil Sir</a:t>
            </a:r>
          </a:p>
        </p:txBody>
      </p:sp>
    </p:spTree>
    <p:extLst>
      <p:ext uri="{BB962C8B-B14F-4D97-AF65-F5344CB8AC3E}">
        <p14:creationId xmlns:p14="http://schemas.microsoft.com/office/powerpoint/2010/main" val="12668437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B79E-6AA5-6B8A-0910-996CD26DF06F}"/>
              </a:ext>
            </a:extLst>
          </p:cNvPr>
          <p:cNvSpPr>
            <a:spLocks noGrp="1"/>
          </p:cNvSpPr>
          <p:nvPr>
            <p:ph type="title"/>
          </p:nvPr>
        </p:nvSpPr>
        <p:spPr>
          <a:xfrm>
            <a:off x="0" y="-197621"/>
            <a:ext cx="10515600" cy="1325563"/>
          </a:xfrm>
        </p:spPr>
        <p:txBody>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520C55AC-08F9-F0DD-D151-A11EC2435D5F}"/>
              </a:ext>
            </a:extLst>
          </p:cNvPr>
          <p:cNvSpPr>
            <a:spLocks noGrp="1"/>
          </p:cNvSpPr>
          <p:nvPr>
            <p:ph idx="1"/>
          </p:nvPr>
        </p:nvSpPr>
        <p:spPr>
          <a:xfrm>
            <a:off x="0" y="943276"/>
            <a:ext cx="10515600" cy="1925052"/>
          </a:xfrm>
        </p:spPr>
        <p:txBody>
          <a:bodyPr>
            <a:normAutofit/>
          </a:bodyPr>
          <a:lstStyle/>
          <a:p>
            <a:r>
              <a:rPr lang="en-US" sz="1800" dirty="0"/>
              <a:t>To overcome the difficulties of manual timetable scheduling, changing faculty availability, classroom allocation issues, and scheduling conflicts. Traditional scheduling requires continuous checking and adjustments to prevent conflicts and becomes increasingly inefficient as the number of courses and departments grows.</a:t>
            </a:r>
            <a:endParaRPr lang="en-IN" sz="1800" dirty="0"/>
          </a:p>
        </p:txBody>
      </p:sp>
      <p:sp>
        <p:nvSpPr>
          <p:cNvPr id="6" name="Rectangle: Rounded Corners 5">
            <a:extLst>
              <a:ext uri="{FF2B5EF4-FFF2-40B4-BE49-F238E27FC236}">
                <a16:creationId xmlns:a16="http://schemas.microsoft.com/office/drawing/2014/main" id="{126B4821-10E3-C217-B6D3-A73F90D1E490}"/>
              </a:ext>
            </a:extLst>
          </p:cNvPr>
          <p:cNvSpPr/>
          <p:nvPr/>
        </p:nvSpPr>
        <p:spPr>
          <a:xfrm>
            <a:off x="240632" y="2125670"/>
            <a:ext cx="5855368" cy="4526280"/>
          </a:xfrm>
          <a:prstGeom prst="roundRect">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F26DFCAD-7557-839D-8557-549EE4B31E39}"/>
              </a:ext>
            </a:extLst>
          </p:cNvPr>
          <p:cNvSpPr/>
          <p:nvPr/>
        </p:nvSpPr>
        <p:spPr>
          <a:xfrm>
            <a:off x="6290109" y="2069432"/>
            <a:ext cx="5661259" cy="4526280"/>
          </a:xfrm>
          <a:prstGeom prst="roundRect">
            <a:avLst/>
          </a:prstGeom>
          <a:solidFill>
            <a:schemeClr val="accent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E81B4BB-EDB3-8F21-4D09-9B0FC67A76B3}"/>
              </a:ext>
            </a:extLst>
          </p:cNvPr>
          <p:cNvSpPr txBox="1"/>
          <p:nvPr/>
        </p:nvSpPr>
        <p:spPr>
          <a:xfrm>
            <a:off x="604788" y="2071397"/>
            <a:ext cx="5160744" cy="4616648"/>
          </a:xfrm>
          <a:prstGeom prst="rect">
            <a:avLst/>
          </a:prstGeom>
          <a:noFill/>
        </p:spPr>
        <p:txBody>
          <a:bodyPr wrap="square" rtlCol="0">
            <a:spAutoFit/>
          </a:bodyPr>
          <a:lstStyle/>
          <a:p>
            <a:r>
              <a:rPr lang="en-US" sz="2400" b="1" dirty="0"/>
              <a:t> Proposed Solutions:</a:t>
            </a:r>
          </a:p>
          <a:p>
            <a:endParaRPr lang="en-US" dirty="0"/>
          </a:p>
          <a:p>
            <a:pPr marL="285750" indent="-285750">
              <a:buFont typeface="Arial" panose="020B0604020202020204" pitchFamily="34" charset="0"/>
              <a:buChar char="•"/>
            </a:pPr>
            <a:r>
              <a:rPr lang="en-US" dirty="0"/>
              <a:t>Automated Timetable – Generate schedules automatically.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Conflict Prevention – Avoid faculty, room, and batch conflicts.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AI/ML Optimization – Create efficient schedules using intelligent algorithms.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Smart Room Allocation – Assign suitable rooms based on capacity and availability.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Dynamic Rescheduling – Update schedules when changes occur</a:t>
            </a:r>
            <a:endParaRPr lang="en-IN" dirty="0"/>
          </a:p>
        </p:txBody>
      </p:sp>
      <p:sp>
        <p:nvSpPr>
          <p:cNvPr id="10" name="TextBox 9">
            <a:extLst>
              <a:ext uri="{FF2B5EF4-FFF2-40B4-BE49-F238E27FC236}">
                <a16:creationId xmlns:a16="http://schemas.microsoft.com/office/drawing/2014/main" id="{6C44E5E5-1C3B-EB21-824E-D21457B41DA6}"/>
              </a:ext>
            </a:extLst>
          </p:cNvPr>
          <p:cNvSpPr txBox="1"/>
          <p:nvPr/>
        </p:nvSpPr>
        <p:spPr>
          <a:xfrm>
            <a:off x="6667098" y="2215598"/>
            <a:ext cx="4907279" cy="4524315"/>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Design a Smart Classroom System Integrate ML-based scheduling into a unified smart classroom management platform.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Generate Conflict-Free Timetables Automatically produce optimized timetables ensuring no teacher or room conflicts.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Improve Resource Utilization Maximize efficiency of classrooms, faculty time, and available time slots.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Enable Dynamic Rescheduling Support real-time rescheduling in response to unexpected changes in availability.</a:t>
            </a:r>
            <a:endParaRPr lang="en-IN" dirty="0"/>
          </a:p>
        </p:txBody>
      </p:sp>
      <p:sp>
        <p:nvSpPr>
          <p:cNvPr id="11" name="TextBox 10">
            <a:extLst>
              <a:ext uri="{FF2B5EF4-FFF2-40B4-BE49-F238E27FC236}">
                <a16:creationId xmlns:a16="http://schemas.microsoft.com/office/drawing/2014/main" id="{C7742499-B288-61BA-2C38-19D2BFCE19DB}"/>
              </a:ext>
            </a:extLst>
          </p:cNvPr>
          <p:cNvSpPr txBox="1"/>
          <p:nvPr/>
        </p:nvSpPr>
        <p:spPr>
          <a:xfrm>
            <a:off x="6564427" y="2068543"/>
            <a:ext cx="3397719" cy="461665"/>
          </a:xfrm>
          <a:prstGeom prst="rect">
            <a:avLst/>
          </a:prstGeom>
          <a:noFill/>
        </p:spPr>
        <p:txBody>
          <a:bodyPr wrap="square" rtlCol="0">
            <a:spAutoFit/>
          </a:bodyPr>
          <a:lstStyle/>
          <a:p>
            <a:r>
              <a:rPr lang="en-US" sz="2400" b="1" dirty="0"/>
              <a:t>Project Objectives:</a:t>
            </a:r>
            <a:endParaRPr lang="en-IN" sz="2400" b="1" dirty="0"/>
          </a:p>
        </p:txBody>
      </p:sp>
    </p:spTree>
    <p:extLst>
      <p:ext uri="{BB962C8B-B14F-4D97-AF65-F5344CB8AC3E}">
        <p14:creationId xmlns:p14="http://schemas.microsoft.com/office/powerpoint/2010/main" val="6625444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82077-591B-3D2D-4ADB-BE1D6F6D2920}"/>
              </a:ext>
            </a:extLst>
          </p:cNvPr>
          <p:cNvSpPr>
            <a:spLocks noGrp="1"/>
          </p:cNvSpPr>
          <p:nvPr>
            <p:ph type="title"/>
          </p:nvPr>
        </p:nvSpPr>
        <p:spPr>
          <a:xfrm>
            <a:off x="202933" y="191871"/>
            <a:ext cx="7401025" cy="693654"/>
          </a:xfrm>
        </p:spPr>
        <p:txBody>
          <a:bodyPr>
            <a:normAutofit fontScale="90000"/>
          </a:bodyPr>
          <a:lstStyle/>
          <a:p>
            <a:r>
              <a:rPr lang="en-US" b="1" dirty="0"/>
              <a:t>Modules &amp; Short Description:</a:t>
            </a:r>
            <a:endParaRPr lang="en-IN" b="1" dirty="0"/>
          </a:p>
        </p:txBody>
      </p:sp>
      <p:sp>
        <p:nvSpPr>
          <p:cNvPr id="3" name="Content Placeholder 2">
            <a:extLst>
              <a:ext uri="{FF2B5EF4-FFF2-40B4-BE49-F238E27FC236}">
                <a16:creationId xmlns:a16="http://schemas.microsoft.com/office/drawing/2014/main" id="{6503790B-2701-8FEC-EF63-0C3242DC95DB}"/>
              </a:ext>
            </a:extLst>
          </p:cNvPr>
          <p:cNvSpPr>
            <a:spLocks noGrp="1"/>
          </p:cNvSpPr>
          <p:nvPr>
            <p:ph idx="1"/>
          </p:nvPr>
        </p:nvSpPr>
        <p:spPr>
          <a:xfrm>
            <a:off x="289559" y="1161481"/>
            <a:ext cx="5629977" cy="5016759"/>
          </a:xfrm>
        </p:spPr>
        <p:txBody>
          <a:bodyPr>
            <a:noAutofit/>
          </a:bodyPr>
          <a:lstStyle/>
          <a:p>
            <a:r>
              <a:rPr lang="en-US" sz="2000" b="1" dirty="0"/>
              <a:t>Institute Hours→ </a:t>
            </a:r>
            <a:r>
              <a:rPr lang="en-US" sz="2000" dirty="0"/>
              <a:t>Set the college working days and teaching hours.</a:t>
            </a:r>
          </a:p>
          <a:p>
            <a:endParaRPr lang="en-US" sz="2000" dirty="0"/>
          </a:p>
          <a:p>
            <a:r>
              <a:rPr lang="en-US" sz="2000" b="1" dirty="0"/>
              <a:t>Break Management→ </a:t>
            </a:r>
            <a:r>
              <a:rPr lang="en-US" sz="2000" dirty="0"/>
              <a:t>Add short breaks and lunch breaks in the timetable.</a:t>
            </a:r>
          </a:p>
          <a:p>
            <a:endParaRPr lang="en-US" sz="2000" dirty="0"/>
          </a:p>
          <a:p>
            <a:r>
              <a:rPr lang="en-US" sz="2000" b="1" dirty="0"/>
              <a:t>Years &amp; Semesters→ </a:t>
            </a:r>
            <a:r>
              <a:rPr lang="en-US" sz="2000" dirty="0"/>
              <a:t>Manage FY, SY, TY and their respective semesters.</a:t>
            </a:r>
          </a:p>
          <a:p>
            <a:endParaRPr lang="en-US" sz="2000" dirty="0"/>
          </a:p>
          <a:p>
            <a:r>
              <a:rPr lang="en-US" sz="2000" b="1" dirty="0"/>
              <a:t>Divisions &amp; Batches→ </a:t>
            </a:r>
            <a:r>
              <a:rPr lang="en-US" sz="2000" dirty="0"/>
              <a:t>Create and manage divisions like SY-A, SY-B, SY-C and lab batches.</a:t>
            </a:r>
          </a:p>
          <a:p>
            <a:endParaRPr lang="en-US" sz="2000" dirty="0"/>
          </a:p>
          <a:p>
            <a:r>
              <a:rPr lang="en-US" sz="2000" b="1" dirty="0"/>
              <a:t>Faculty Management→ </a:t>
            </a:r>
            <a:r>
              <a:rPr lang="en-US" sz="2000" dirty="0"/>
              <a:t>Add teachers, their subjects, and their daily teaching limit.</a:t>
            </a:r>
            <a:endParaRPr lang="en-IN" sz="2000" dirty="0"/>
          </a:p>
        </p:txBody>
      </p:sp>
      <p:sp>
        <p:nvSpPr>
          <p:cNvPr id="4" name="TextBox 3">
            <a:extLst>
              <a:ext uri="{FF2B5EF4-FFF2-40B4-BE49-F238E27FC236}">
                <a16:creationId xmlns:a16="http://schemas.microsoft.com/office/drawing/2014/main" id="{EEF446F8-42AB-3024-99EE-D35B023016B7}"/>
              </a:ext>
            </a:extLst>
          </p:cNvPr>
          <p:cNvSpPr txBox="1"/>
          <p:nvPr/>
        </p:nvSpPr>
        <p:spPr>
          <a:xfrm>
            <a:off x="6096000" y="1155032"/>
            <a:ext cx="5791200" cy="5016758"/>
          </a:xfrm>
          <a:prstGeom prst="rect">
            <a:avLst/>
          </a:prstGeom>
          <a:noFill/>
        </p:spPr>
        <p:txBody>
          <a:bodyPr wrap="square" rtlCol="0">
            <a:spAutoFit/>
          </a:bodyPr>
          <a:lstStyle/>
          <a:p>
            <a:pPr marL="342900" indent="-342900">
              <a:buFont typeface="Arial" panose="020B0604020202020204" pitchFamily="34" charset="0"/>
              <a:buChar char="•"/>
            </a:pPr>
            <a:r>
              <a:rPr lang="en-US" sz="2000" b="1" dirty="0"/>
              <a:t>Rooms &amp; Labs→ </a:t>
            </a:r>
            <a:r>
              <a:rPr lang="en-US" sz="2000" dirty="0"/>
              <a:t>Add classrooms and labs with their capacity and type.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Subjects &amp; Allocation→ </a:t>
            </a:r>
            <a:r>
              <a:rPr lang="en-US" sz="2000" dirty="0"/>
              <a:t>Add subjects, lectures/labs, weekly sessions, faculty and room preferences.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Timetable Generation→ </a:t>
            </a:r>
            <a:r>
              <a:rPr lang="en-US" sz="2000" dirty="0"/>
              <a:t>Automatically creates the timetable while avoiding clashes.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Timetable View→ </a:t>
            </a:r>
            <a:r>
              <a:rPr lang="en-US" sz="2000" dirty="0"/>
              <a:t>View the timetable class-wise, faculty-wise, classroom-wise, lab-wise, or master-wise.</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Conflict Detection→ </a:t>
            </a:r>
            <a:r>
              <a:rPr lang="en-US" sz="2000" dirty="0"/>
              <a:t>Shows subjects that could not be scheduled and explains the reason.</a:t>
            </a:r>
            <a:endParaRPr lang="en-IN" sz="2000" dirty="0"/>
          </a:p>
        </p:txBody>
      </p:sp>
    </p:spTree>
    <p:extLst>
      <p:ext uri="{BB962C8B-B14F-4D97-AF65-F5344CB8AC3E}">
        <p14:creationId xmlns:p14="http://schemas.microsoft.com/office/powerpoint/2010/main" val="27604346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DA82-5264-24AA-047D-AEADC98D78F5}"/>
              </a:ext>
            </a:extLst>
          </p:cNvPr>
          <p:cNvSpPr>
            <a:spLocks noGrp="1"/>
          </p:cNvSpPr>
          <p:nvPr>
            <p:ph type="title"/>
          </p:nvPr>
        </p:nvSpPr>
        <p:spPr>
          <a:xfrm>
            <a:off x="100780" y="-264140"/>
            <a:ext cx="10515600" cy="1325563"/>
          </a:xfrm>
        </p:spPr>
        <p:txBody>
          <a:bodyPr/>
          <a:lstStyle/>
          <a:p>
            <a:r>
              <a:rPr lang="en-IN" dirty="0"/>
              <a:t>Technology Stack</a:t>
            </a:r>
          </a:p>
        </p:txBody>
      </p:sp>
      <p:sp>
        <p:nvSpPr>
          <p:cNvPr id="4" name="Rectangle 3">
            <a:extLst>
              <a:ext uri="{FF2B5EF4-FFF2-40B4-BE49-F238E27FC236}">
                <a16:creationId xmlns:a16="http://schemas.microsoft.com/office/drawing/2014/main" id="{3C587D1F-C9FA-352C-EEB5-7D5FA4052F1F}"/>
              </a:ext>
            </a:extLst>
          </p:cNvPr>
          <p:cNvSpPr/>
          <p:nvPr/>
        </p:nvSpPr>
        <p:spPr>
          <a:xfrm>
            <a:off x="0" y="717755"/>
            <a:ext cx="5947720" cy="3391515"/>
          </a:xfrm>
          <a:prstGeom prst="rect">
            <a:avLst/>
          </a:prstGeom>
          <a:solidFill>
            <a:schemeClr val="accent1">
              <a:lumMod val="75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IN" sz="2400" dirty="0"/>
          </a:p>
        </p:txBody>
      </p:sp>
      <p:pic>
        <p:nvPicPr>
          <p:cNvPr id="5" name="Picture 4" descr="ios 27 filled style javascript logo icon">
            <a:extLst>
              <a:ext uri="{FF2B5EF4-FFF2-40B4-BE49-F238E27FC236}">
                <a16:creationId xmlns:a16="http://schemas.microsoft.com/office/drawing/2014/main" id="{7BF4BB54-0D36-F319-8883-F3C8318E3601}"/>
              </a:ext>
            </a:extLst>
          </p:cNvPr>
          <p:cNvPicPr>
            <a:picLocks noChangeAspect="1"/>
          </p:cNvPicPr>
          <p:nvPr/>
        </p:nvPicPr>
        <p:blipFill>
          <a:blip r:embed="rId2"/>
          <a:stretch>
            <a:fillRect/>
          </a:stretch>
        </p:blipFill>
        <p:spPr>
          <a:xfrm>
            <a:off x="2323490" y="1857991"/>
            <a:ext cx="1246238" cy="1246238"/>
          </a:xfrm>
          <a:prstGeom prst="rect">
            <a:avLst/>
          </a:prstGeom>
        </p:spPr>
      </p:pic>
      <p:sp>
        <p:nvSpPr>
          <p:cNvPr id="7" name="Rectangle 6">
            <a:extLst>
              <a:ext uri="{FF2B5EF4-FFF2-40B4-BE49-F238E27FC236}">
                <a16:creationId xmlns:a16="http://schemas.microsoft.com/office/drawing/2014/main" id="{E6CD2CB8-E480-B36F-0E84-4EB01C776660}"/>
              </a:ext>
            </a:extLst>
          </p:cNvPr>
          <p:cNvSpPr/>
          <p:nvPr/>
        </p:nvSpPr>
        <p:spPr>
          <a:xfrm>
            <a:off x="0" y="4354585"/>
            <a:ext cx="5947719" cy="2335161"/>
          </a:xfrm>
          <a:prstGeom prst="rect">
            <a:avLst/>
          </a:prstGeom>
          <a:solidFill>
            <a:schemeClr val="accent1">
              <a:lumMod val="75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IN" sz="2400" dirty="0"/>
          </a:p>
        </p:txBody>
      </p:sp>
      <p:sp>
        <p:nvSpPr>
          <p:cNvPr id="11" name="Rectangle 10">
            <a:extLst>
              <a:ext uri="{FF2B5EF4-FFF2-40B4-BE49-F238E27FC236}">
                <a16:creationId xmlns:a16="http://schemas.microsoft.com/office/drawing/2014/main" id="{9CF1951B-C21A-B85B-C3D8-62B535CDB94B}"/>
              </a:ext>
            </a:extLst>
          </p:cNvPr>
          <p:cNvSpPr/>
          <p:nvPr/>
        </p:nvSpPr>
        <p:spPr>
          <a:xfrm>
            <a:off x="6322142" y="4354585"/>
            <a:ext cx="5633884" cy="2335161"/>
          </a:xfrm>
          <a:prstGeom prst="rect">
            <a:avLst/>
          </a:prstGeom>
          <a:solidFill>
            <a:schemeClr val="accent1">
              <a:lumMod val="75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IN" sz="2400" dirty="0"/>
          </a:p>
        </p:txBody>
      </p:sp>
      <p:sp>
        <p:nvSpPr>
          <p:cNvPr id="13" name="Rectangle 12">
            <a:extLst>
              <a:ext uri="{FF2B5EF4-FFF2-40B4-BE49-F238E27FC236}">
                <a16:creationId xmlns:a16="http://schemas.microsoft.com/office/drawing/2014/main" id="{B9A1358E-B930-FCEC-C8A1-841972D393EB}"/>
              </a:ext>
            </a:extLst>
          </p:cNvPr>
          <p:cNvSpPr/>
          <p:nvPr/>
        </p:nvSpPr>
        <p:spPr>
          <a:xfrm>
            <a:off x="6322142" y="752535"/>
            <a:ext cx="5633884" cy="3391515"/>
          </a:xfrm>
          <a:prstGeom prst="rect">
            <a:avLst/>
          </a:prstGeom>
          <a:solidFill>
            <a:schemeClr val="accent1">
              <a:lumMod val="75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IN" sz="2400" dirty="0"/>
          </a:p>
        </p:txBody>
      </p:sp>
      <p:sp>
        <p:nvSpPr>
          <p:cNvPr id="14" name="TextBox 13">
            <a:extLst>
              <a:ext uri="{FF2B5EF4-FFF2-40B4-BE49-F238E27FC236}">
                <a16:creationId xmlns:a16="http://schemas.microsoft.com/office/drawing/2014/main" id="{5F0401EF-C82E-3630-166D-C1F425F370A3}"/>
              </a:ext>
            </a:extLst>
          </p:cNvPr>
          <p:cNvSpPr txBox="1"/>
          <p:nvPr/>
        </p:nvSpPr>
        <p:spPr>
          <a:xfrm>
            <a:off x="100780" y="821813"/>
            <a:ext cx="2133600" cy="461665"/>
          </a:xfrm>
          <a:prstGeom prst="rect">
            <a:avLst/>
          </a:prstGeom>
          <a:noFill/>
        </p:spPr>
        <p:txBody>
          <a:bodyPr wrap="square" rtlCol="0">
            <a:spAutoFit/>
          </a:bodyPr>
          <a:lstStyle/>
          <a:p>
            <a:r>
              <a:rPr lang="en-IN" sz="2400" b="1" dirty="0">
                <a:solidFill>
                  <a:srgbClr val="FFFF00"/>
                </a:solidFill>
              </a:rPr>
              <a:t>Frontend</a:t>
            </a:r>
          </a:p>
        </p:txBody>
      </p:sp>
      <p:pic>
        <p:nvPicPr>
          <p:cNvPr id="15" name="Picture 14" descr="ink style html icon">
            <a:extLst>
              <a:ext uri="{FF2B5EF4-FFF2-40B4-BE49-F238E27FC236}">
                <a16:creationId xmlns:a16="http://schemas.microsoft.com/office/drawing/2014/main" id="{EAA032B5-932A-D095-F5EC-5635E00D641A}"/>
              </a:ext>
            </a:extLst>
          </p:cNvPr>
          <p:cNvPicPr>
            <a:picLocks noChangeAspect="1"/>
          </p:cNvPicPr>
          <p:nvPr/>
        </p:nvPicPr>
        <p:blipFill>
          <a:blip r:embed="rId3"/>
          <a:stretch>
            <a:fillRect/>
          </a:stretch>
        </p:blipFill>
        <p:spPr>
          <a:xfrm>
            <a:off x="480858" y="1907106"/>
            <a:ext cx="1246239" cy="1246239"/>
          </a:xfrm>
          <a:prstGeom prst="rect">
            <a:avLst/>
          </a:prstGeom>
        </p:spPr>
      </p:pic>
      <p:pic>
        <p:nvPicPr>
          <p:cNvPr id="16" name="Picture 15" descr="ink style css icon">
            <a:extLst>
              <a:ext uri="{FF2B5EF4-FFF2-40B4-BE49-F238E27FC236}">
                <a16:creationId xmlns:a16="http://schemas.microsoft.com/office/drawing/2014/main" id="{47E9B128-23C0-86F2-4EDD-5175DDA493A9}"/>
              </a:ext>
            </a:extLst>
          </p:cNvPr>
          <p:cNvPicPr>
            <a:picLocks noChangeAspect="1"/>
          </p:cNvPicPr>
          <p:nvPr/>
        </p:nvPicPr>
        <p:blipFill>
          <a:blip r:embed="rId4"/>
          <a:stretch>
            <a:fillRect/>
          </a:stretch>
        </p:blipFill>
        <p:spPr>
          <a:xfrm>
            <a:off x="4122483" y="1857991"/>
            <a:ext cx="1246239" cy="1246239"/>
          </a:xfrm>
          <a:prstGeom prst="rect">
            <a:avLst/>
          </a:prstGeom>
        </p:spPr>
      </p:pic>
      <p:sp>
        <p:nvSpPr>
          <p:cNvPr id="18" name="TextBox 17">
            <a:extLst>
              <a:ext uri="{FF2B5EF4-FFF2-40B4-BE49-F238E27FC236}">
                <a16:creationId xmlns:a16="http://schemas.microsoft.com/office/drawing/2014/main" id="{A10FE7A5-2B37-4AEC-325F-79F7BF77D5E9}"/>
              </a:ext>
            </a:extLst>
          </p:cNvPr>
          <p:cNvSpPr txBox="1"/>
          <p:nvPr/>
        </p:nvSpPr>
        <p:spPr>
          <a:xfrm>
            <a:off x="0" y="4402566"/>
            <a:ext cx="2133600" cy="461665"/>
          </a:xfrm>
          <a:prstGeom prst="rect">
            <a:avLst/>
          </a:prstGeom>
          <a:noFill/>
        </p:spPr>
        <p:txBody>
          <a:bodyPr wrap="square" rtlCol="0">
            <a:spAutoFit/>
          </a:bodyPr>
          <a:lstStyle/>
          <a:p>
            <a:r>
              <a:rPr lang="en-IN" sz="2400" b="1" dirty="0">
                <a:solidFill>
                  <a:srgbClr val="FFFF00"/>
                </a:solidFill>
              </a:rPr>
              <a:t>Backend</a:t>
            </a:r>
          </a:p>
        </p:txBody>
      </p:sp>
      <p:pic>
        <p:nvPicPr>
          <p:cNvPr id="19" name="Picture 18" descr="3d fluency style python icon">
            <a:extLst>
              <a:ext uri="{FF2B5EF4-FFF2-40B4-BE49-F238E27FC236}">
                <a16:creationId xmlns:a16="http://schemas.microsoft.com/office/drawing/2014/main" id="{9C69A69E-AA41-7A58-2BEF-378D89D31889}"/>
              </a:ext>
            </a:extLst>
          </p:cNvPr>
          <p:cNvPicPr>
            <a:picLocks noChangeAspect="1"/>
          </p:cNvPicPr>
          <p:nvPr/>
        </p:nvPicPr>
        <p:blipFill>
          <a:blip r:embed="rId5"/>
          <a:stretch>
            <a:fillRect/>
          </a:stretch>
        </p:blipFill>
        <p:spPr>
          <a:xfrm>
            <a:off x="400017" y="5030777"/>
            <a:ext cx="1261597" cy="1261597"/>
          </a:xfrm>
          <a:prstGeom prst="rect">
            <a:avLst/>
          </a:prstGeom>
        </p:spPr>
      </p:pic>
      <p:sp>
        <p:nvSpPr>
          <p:cNvPr id="20" name="TextBox 19">
            <a:extLst>
              <a:ext uri="{FF2B5EF4-FFF2-40B4-BE49-F238E27FC236}">
                <a16:creationId xmlns:a16="http://schemas.microsoft.com/office/drawing/2014/main" id="{90A4E559-1059-C636-0E34-6C912E05EF77}"/>
              </a:ext>
            </a:extLst>
          </p:cNvPr>
          <p:cNvSpPr txBox="1"/>
          <p:nvPr/>
        </p:nvSpPr>
        <p:spPr>
          <a:xfrm>
            <a:off x="6383593" y="821813"/>
            <a:ext cx="2158181" cy="461665"/>
          </a:xfrm>
          <a:prstGeom prst="rect">
            <a:avLst/>
          </a:prstGeom>
          <a:noFill/>
        </p:spPr>
        <p:txBody>
          <a:bodyPr wrap="square" rtlCol="0">
            <a:spAutoFit/>
          </a:bodyPr>
          <a:lstStyle/>
          <a:p>
            <a:r>
              <a:rPr lang="en-IN" sz="2400" b="1" dirty="0">
                <a:solidFill>
                  <a:srgbClr val="FFFF00"/>
                </a:solidFill>
              </a:rPr>
              <a:t>Database</a:t>
            </a:r>
          </a:p>
        </p:txBody>
      </p:sp>
      <p:pic>
        <p:nvPicPr>
          <p:cNvPr id="21" name="Picture 20" descr="postgresql icon">
            <a:extLst>
              <a:ext uri="{FF2B5EF4-FFF2-40B4-BE49-F238E27FC236}">
                <a16:creationId xmlns:a16="http://schemas.microsoft.com/office/drawing/2014/main" id="{F49F07CF-B4C3-1AA4-2877-AB51426C778B}"/>
              </a:ext>
            </a:extLst>
          </p:cNvPr>
          <p:cNvPicPr>
            <a:picLocks noChangeAspect="1"/>
          </p:cNvPicPr>
          <p:nvPr/>
        </p:nvPicPr>
        <p:blipFill>
          <a:blip r:embed="rId6"/>
          <a:stretch>
            <a:fillRect/>
          </a:stretch>
        </p:blipFill>
        <p:spPr>
          <a:xfrm>
            <a:off x="6878262" y="1639385"/>
            <a:ext cx="1464844" cy="1464844"/>
          </a:xfrm>
          <a:prstGeom prst="rect">
            <a:avLst/>
          </a:prstGeom>
        </p:spPr>
      </p:pic>
      <p:sp>
        <p:nvSpPr>
          <p:cNvPr id="22" name="TextBox 21">
            <a:extLst>
              <a:ext uri="{FF2B5EF4-FFF2-40B4-BE49-F238E27FC236}">
                <a16:creationId xmlns:a16="http://schemas.microsoft.com/office/drawing/2014/main" id="{E97DF1AD-8ED9-57D9-D2CC-0F617C42D15C}"/>
              </a:ext>
            </a:extLst>
          </p:cNvPr>
          <p:cNvSpPr txBox="1"/>
          <p:nvPr/>
        </p:nvSpPr>
        <p:spPr>
          <a:xfrm>
            <a:off x="6322142" y="4470728"/>
            <a:ext cx="2281084" cy="461665"/>
          </a:xfrm>
          <a:prstGeom prst="rect">
            <a:avLst/>
          </a:prstGeom>
          <a:noFill/>
        </p:spPr>
        <p:txBody>
          <a:bodyPr wrap="square" rtlCol="0">
            <a:spAutoFit/>
          </a:bodyPr>
          <a:lstStyle/>
          <a:p>
            <a:r>
              <a:rPr lang="en-IN" sz="2400" b="1" dirty="0">
                <a:solidFill>
                  <a:srgbClr val="FFFF00"/>
                </a:solidFill>
              </a:rPr>
              <a:t>Other Tools</a:t>
            </a:r>
          </a:p>
        </p:txBody>
      </p:sp>
      <p:pic>
        <p:nvPicPr>
          <p:cNvPr id="23" name="Picture 22" descr="draw.io Diagrams - Free download and install on Windows | Microsoft Store">
            <a:extLst>
              <a:ext uri="{FF2B5EF4-FFF2-40B4-BE49-F238E27FC236}">
                <a16:creationId xmlns:a16="http://schemas.microsoft.com/office/drawing/2014/main" id="{67879DE0-2B57-EEDF-1B56-FC7D7F4B906A}"/>
              </a:ext>
            </a:extLst>
          </p:cNvPr>
          <p:cNvPicPr>
            <a:picLocks noChangeAspect="1"/>
          </p:cNvPicPr>
          <p:nvPr/>
        </p:nvPicPr>
        <p:blipFill>
          <a:blip r:embed="rId7"/>
          <a:stretch>
            <a:fillRect/>
          </a:stretch>
        </p:blipFill>
        <p:spPr>
          <a:xfrm>
            <a:off x="8541774" y="5015758"/>
            <a:ext cx="1401493" cy="1401493"/>
          </a:xfrm>
          <a:prstGeom prst="rect">
            <a:avLst/>
          </a:prstGeom>
        </p:spPr>
      </p:pic>
      <p:pic>
        <p:nvPicPr>
          <p:cNvPr id="24" name="Picture 23" descr="The Psycopg Team · GitHub">
            <a:extLst>
              <a:ext uri="{FF2B5EF4-FFF2-40B4-BE49-F238E27FC236}">
                <a16:creationId xmlns:a16="http://schemas.microsoft.com/office/drawing/2014/main" id="{AD2E644A-C360-1CBF-185A-9372BDDCA0D6}"/>
              </a:ext>
            </a:extLst>
          </p:cNvPr>
          <p:cNvPicPr>
            <a:picLocks noChangeAspect="1"/>
          </p:cNvPicPr>
          <p:nvPr/>
        </p:nvPicPr>
        <p:blipFill>
          <a:blip r:embed="rId8"/>
          <a:stretch>
            <a:fillRect/>
          </a:stretch>
        </p:blipFill>
        <p:spPr>
          <a:xfrm>
            <a:off x="9463580" y="1688499"/>
            <a:ext cx="1464845" cy="1464845"/>
          </a:xfrm>
          <a:prstGeom prst="rect">
            <a:avLst/>
          </a:prstGeom>
        </p:spPr>
      </p:pic>
      <p:pic>
        <p:nvPicPr>
          <p:cNvPr id="26" name="Picture 25" descr="Rest API Icon SVG Vector &amp; PNG Free Download | UXWing">
            <a:extLst>
              <a:ext uri="{FF2B5EF4-FFF2-40B4-BE49-F238E27FC236}">
                <a16:creationId xmlns:a16="http://schemas.microsoft.com/office/drawing/2014/main" id="{DF3E55A8-6E6C-76DB-4E7C-87FAD4804CB2}"/>
              </a:ext>
            </a:extLst>
          </p:cNvPr>
          <p:cNvPicPr>
            <a:picLocks noChangeAspect="1"/>
          </p:cNvPicPr>
          <p:nvPr/>
        </p:nvPicPr>
        <p:blipFill>
          <a:blip r:embed="rId9"/>
          <a:stretch>
            <a:fillRect/>
          </a:stretch>
        </p:blipFill>
        <p:spPr>
          <a:xfrm>
            <a:off x="4122483" y="5030777"/>
            <a:ext cx="1467898" cy="1199262"/>
          </a:xfrm>
          <a:prstGeom prst="rect">
            <a:avLst/>
          </a:prstGeom>
        </p:spPr>
      </p:pic>
      <p:pic>
        <p:nvPicPr>
          <p:cNvPr id="27" name="Picture 26" descr="What is JSON? The most important questions explained simply ✓">
            <a:extLst>
              <a:ext uri="{FF2B5EF4-FFF2-40B4-BE49-F238E27FC236}">
                <a16:creationId xmlns:a16="http://schemas.microsoft.com/office/drawing/2014/main" id="{E129F255-3586-1FB6-88B7-A10C6D854717}"/>
              </a:ext>
            </a:extLst>
          </p:cNvPr>
          <p:cNvPicPr>
            <a:picLocks noChangeAspect="1"/>
          </p:cNvPicPr>
          <p:nvPr/>
        </p:nvPicPr>
        <p:blipFill>
          <a:blip r:embed="rId10"/>
          <a:stretch>
            <a:fillRect/>
          </a:stretch>
        </p:blipFill>
        <p:spPr>
          <a:xfrm>
            <a:off x="1992351" y="5258271"/>
            <a:ext cx="1772794" cy="742376"/>
          </a:xfrm>
          <a:prstGeom prst="rect">
            <a:avLst/>
          </a:prstGeom>
        </p:spPr>
      </p:pic>
      <p:sp>
        <p:nvSpPr>
          <p:cNvPr id="28" name="Plus Sign 27">
            <a:extLst>
              <a:ext uri="{FF2B5EF4-FFF2-40B4-BE49-F238E27FC236}">
                <a16:creationId xmlns:a16="http://schemas.microsoft.com/office/drawing/2014/main" id="{F208A487-D522-3706-115F-4C5FBD821357}"/>
              </a:ext>
            </a:extLst>
          </p:cNvPr>
          <p:cNvSpPr/>
          <p:nvPr/>
        </p:nvSpPr>
        <p:spPr>
          <a:xfrm>
            <a:off x="3771339" y="5450539"/>
            <a:ext cx="324543" cy="399655"/>
          </a:xfrm>
          <a:prstGeom prst="mathPlus">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FF00"/>
              </a:solidFill>
            </a:endParaRPr>
          </a:p>
        </p:txBody>
      </p:sp>
      <p:sp>
        <p:nvSpPr>
          <p:cNvPr id="29" name="TextBox 28">
            <a:extLst>
              <a:ext uri="{FF2B5EF4-FFF2-40B4-BE49-F238E27FC236}">
                <a16:creationId xmlns:a16="http://schemas.microsoft.com/office/drawing/2014/main" id="{7B4C5EA1-0280-F854-C272-6307AC2335FD}"/>
              </a:ext>
            </a:extLst>
          </p:cNvPr>
          <p:cNvSpPr txBox="1"/>
          <p:nvPr/>
        </p:nvSpPr>
        <p:spPr>
          <a:xfrm>
            <a:off x="2995464" y="4456848"/>
            <a:ext cx="3219322" cy="461665"/>
          </a:xfrm>
          <a:prstGeom prst="rect">
            <a:avLst/>
          </a:prstGeom>
          <a:noFill/>
        </p:spPr>
        <p:txBody>
          <a:bodyPr wrap="square" rtlCol="0">
            <a:spAutoFit/>
          </a:bodyPr>
          <a:lstStyle/>
          <a:p>
            <a:r>
              <a:rPr lang="en-IN" sz="2400" b="1" dirty="0">
                <a:solidFill>
                  <a:srgbClr val="FFFF00"/>
                </a:solidFill>
              </a:rPr>
              <a:t>API </a:t>
            </a:r>
            <a:r>
              <a:rPr lang="en-IN" sz="2400" b="1" dirty="0" err="1">
                <a:solidFill>
                  <a:srgbClr val="FFFF00"/>
                </a:solidFill>
              </a:rPr>
              <a:t>Comunication</a:t>
            </a:r>
            <a:endParaRPr lang="en-IN" sz="2400" b="1" dirty="0">
              <a:solidFill>
                <a:srgbClr val="FFFF00"/>
              </a:solidFill>
            </a:endParaRPr>
          </a:p>
        </p:txBody>
      </p:sp>
      <p:sp>
        <p:nvSpPr>
          <p:cNvPr id="30" name="TextBox 29">
            <a:extLst>
              <a:ext uri="{FF2B5EF4-FFF2-40B4-BE49-F238E27FC236}">
                <a16:creationId xmlns:a16="http://schemas.microsoft.com/office/drawing/2014/main" id="{C5FB8D23-B29B-8639-DADB-D10B27BB9024}"/>
              </a:ext>
            </a:extLst>
          </p:cNvPr>
          <p:cNvSpPr txBox="1"/>
          <p:nvPr/>
        </p:nvSpPr>
        <p:spPr>
          <a:xfrm>
            <a:off x="8831826" y="837997"/>
            <a:ext cx="3185651" cy="461665"/>
          </a:xfrm>
          <a:prstGeom prst="rect">
            <a:avLst/>
          </a:prstGeom>
          <a:noFill/>
        </p:spPr>
        <p:txBody>
          <a:bodyPr wrap="square" rtlCol="0">
            <a:spAutoFit/>
          </a:bodyPr>
          <a:lstStyle/>
          <a:p>
            <a:r>
              <a:rPr lang="en-IN" sz="2400" b="1" dirty="0">
                <a:solidFill>
                  <a:srgbClr val="FFFF00"/>
                </a:solidFill>
              </a:rPr>
              <a:t>Database Connector</a:t>
            </a:r>
          </a:p>
        </p:txBody>
      </p:sp>
    </p:spTree>
    <p:extLst>
      <p:ext uri="{BB962C8B-B14F-4D97-AF65-F5344CB8AC3E}">
        <p14:creationId xmlns:p14="http://schemas.microsoft.com/office/powerpoint/2010/main" val="21978197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62BB-ED2F-2E5D-EBBB-4072CB7CAAE8}"/>
              </a:ext>
            </a:extLst>
          </p:cNvPr>
          <p:cNvSpPr>
            <a:spLocks noGrp="1"/>
          </p:cNvSpPr>
          <p:nvPr>
            <p:ph type="title"/>
          </p:nvPr>
        </p:nvSpPr>
        <p:spPr>
          <a:xfrm>
            <a:off x="0" y="-214978"/>
            <a:ext cx="10515600" cy="1325563"/>
          </a:xfrm>
        </p:spPr>
        <p:txBody>
          <a:bodyPr/>
          <a:lstStyle/>
          <a:p>
            <a:r>
              <a:rPr lang="en-IN" dirty="0"/>
              <a:t>Frontend</a:t>
            </a:r>
          </a:p>
        </p:txBody>
      </p:sp>
      <p:pic>
        <p:nvPicPr>
          <p:cNvPr id="5" name="Picture 4">
            <a:extLst>
              <a:ext uri="{FF2B5EF4-FFF2-40B4-BE49-F238E27FC236}">
                <a16:creationId xmlns:a16="http://schemas.microsoft.com/office/drawing/2014/main" id="{C9A19D36-8D3D-AB9B-4F42-F8D8F8155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1740" y="879805"/>
            <a:ext cx="4522303" cy="2156573"/>
          </a:xfrm>
          <a:prstGeom prst="rect">
            <a:avLst/>
          </a:prstGeom>
        </p:spPr>
      </p:pic>
      <p:pic>
        <p:nvPicPr>
          <p:cNvPr id="7" name="Picture 6">
            <a:extLst>
              <a:ext uri="{FF2B5EF4-FFF2-40B4-BE49-F238E27FC236}">
                <a16:creationId xmlns:a16="http://schemas.microsoft.com/office/drawing/2014/main" id="{5C973D0C-CC02-22EA-41D9-680AE6632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9637" y="879806"/>
            <a:ext cx="4522303" cy="2156573"/>
          </a:xfrm>
          <a:prstGeom prst="rect">
            <a:avLst/>
          </a:prstGeom>
        </p:spPr>
      </p:pic>
      <p:pic>
        <p:nvPicPr>
          <p:cNvPr id="9" name="Picture 8">
            <a:extLst>
              <a:ext uri="{FF2B5EF4-FFF2-40B4-BE49-F238E27FC236}">
                <a16:creationId xmlns:a16="http://schemas.microsoft.com/office/drawing/2014/main" id="{A679F29F-FD09-EE40-14C4-CABAD621C1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25" y="3813392"/>
            <a:ext cx="3859985" cy="1838318"/>
          </a:xfrm>
          <a:prstGeom prst="rect">
            <a:avLst/>
          </a:prstGeom>
        </p:spPr>
      </p:pic>
      <p:pic>
        <p:nvPicPr>
          <p:cNvPr id="11" name="Picture 10">
            <a:extLst>
              <a:ext uri="{FF2B5EF4-FFF2-40B4-BE49-F238E27FC236}">
                <a16:creationId xmlns:a16="http://schemas.microsoft.com/office/drawing/2014/main" id="{45C07DD7-B17B-62EF-2285-B40CCCE992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3307" y="3821622"/>
            <a:ext cx="3561687" cy="1830088"/>
          </a:xfrm>
          <a:prstGeom prst="rect">
            <a:avLst/>
          </a:prstGeom>
        </p:spPr>
      </p:pic>
      <p:pic>
        <p:nvPicPr>
          <p:cNvPr id="13" name="Picture 12">
            <a:extLst>
              <a:ext uri="{FF2B5EF4-FFF2-40B4-BE49-F238E27FC236}">
                <a16:creationId xmlns:a16="http://schemas.microsoft.com/office/drawing/2014/main" id="{B51556A1-CF3B-AB55-D9A2-455846413A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4592" y="3813392"/>
            <a:ext cx="3962273" cy="1838318"/>
          </a:xfrm>
          <a:prstGeom prst="rect">
            <a:avLst/>
          </a:prstGeom>
        </p:spPr>
      </p:pic>
    </p:spTree>
    <p:extLst>
      <p:ext uri="{BB962C8B-B14F-4D97-AF65-F5344CB8AC3E}">
        <p14:creationId xmlns:p14="http://schemas.microsoft.com/office/powerpoint/2010/main" val="28991323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1AB9313B-32A5-BDDD-CAB2-703BD256A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691" y="867434"/>
            <a:ext cx="5102942" cy="2414329"/>
          </a:xfrm>
          <a:prstGeom prst="rect">
            <a:avLst/>
          </a:prstGeom>
        </p:spPr>
      </p:pic>
      <p:pic>
        <p:nvPicPr>
          <p:cNvPr id="44" name="Picture 43">
            <a:extLst>
              <a:ext uri="{FF2B5EF4-FFF2-40B4-BE49-F238E27FC236}">
                <a16:creationId xmlns:a16="http://schemas.microsoft.com/office/drawing/2014/main" id="{9ECAB437-6B65-2D8C-CA70-D68E848947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400" y="867434"/>
            <a:ext cx="5102943" cy="2417519"/>
          </a:xfrm>
          <a:prstGeom prst="rect">
            <a:avLst/>
          </a:prstGeom>
        </p:spPr>
      </p:pic>
      <p:pic>
        <p:nvPicPr>
          <p:cNvPr id="46" name="Picture 45">
            <a:extLst>
              <a:ext uri="{FF2B5EF4-FFF2-40B4-BE49-F238E27FC236}">
                <a16:creationId xmlns:a16="http://schemas.microsoft.com/office/drawing/2014/main" id="{71C16DF5-E135-A72E-CA78-8CD131F0CF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865154"/>
            <a:ext cx="3795252" cy="1805202"/>
          </a:xfrm>
          <a:prstGeom prst="rect">
            <a:avLst/>
          </a:prstGeom>
        </p:spPr>
      </p:pic>
      <p:pic>
        <p:nvPicPr>
          <p:cNvPr id="48" name="Picture 47">
            <a:extLst>
              <a:ext uri="{FF2B5EF4-FFF2-40B4-BE49-F238E27FC236}">
                <a16:creationId xmlns:a16="http://schemas.microsoft.com/office/drawing/2014/main" id="{1D97202B-1FB2-C417-3374-725D2AF8AB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7862" y="3884032"/>
            <a:ext cx="3795250" cy="1786324"/>
          </a:xfrm>
          <a:prstGeom prst="rect">
            <a:avLst/>
          </a:prstGeom>
        </p:spPr>
      </p:pic>
      <p:pic>
        <p:nvPicPr>
          <p:cNvPr id="50" name="Picture 49">
            <a:extLst>
              <a:ext uri="{FF2B5EF4-FFF2-40B4-BE49-F238E27FC236}">
                <a16:creationId xmlns:a16="http://schemas.microsoft.com/office/drawing/2014/main" id="{5D5570BD-AE8C-8FCD-C3FC-29BF91408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19654" y="3865154"/>
            <a:ext cx="3795250" cy="1781604"/>
          </a:xfrm>
          <a:prstGeom prst="rect">
            <a:avLst/>
          </a:prstGeom>
        </p:spPr>
      </p:pic>
    </p:spTree>
    <p:extLst>
      <p:ext uri="{BB962C8B-B14F-4D97-AF65-F5344CB8AC3E}">
        <p14:creationId xmlns:p14="http://schemas.microsoft.com/office/powerpoint/2010/main" val="1100411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4BFA-EF40-09D7-0465-9BE6A5DCC484}"/>
              </a:ext>
            </a:extLst>
          </p:cNvPr>
          <p:cNvSpPr>
            <a:spLocks noGrp="1"/>
          </p:cNvSpPr>
          <p:nvPr>
            <p:ph type="title"/>
          </p:nvPr>
        </p:nvSpPr>
        <p:spPr>
          <a:xfrm>
            <a:off x="0" y="0"/>
            <a:ext cx="10515600" cy="1325563"/>
          </a:xfrm>
        </p:spPr>
        <p:txBody>
          <a:bodyPr>
            <a:normAutofit/>
          </a:bodyPr>
          <a:lstStyle/>
          <a:p>
            <a:r>
              <a:rPr lang="en-IN" sz="3200" b="1" dirty="0"/>
              <a:t> Backend Architecture &amp; Technology</a:t>
            </a:r>
            <a:br>
              <a:rPr lang="en-IN" sz="3200" b="1" dirty="0"/>
            </a:br>
            <a:endParaRPr lang="en-IN" sz="3200" dirty="0"/>
          </a:p>
        </p:txBody>
      </p:sp>
      <p:sp>
        <p:nvSpPr>
          <p:cNvPr id="3" name="Content Placeholder 2">
            <a:extLst>
              <a:ext uri="{FF2B5EF4-FFF2-40B4-BE49-F238E27FC236}">
                <a16:creationId xmlns:a16="http://schemas.microsoft.com/office/drawing/2014/main" id="{BB206C6C-FFD4-1C93-FEA5-777AC7DE5F1F}"/>
              </a:ext>
            </a:extLst>
          </p:cNvPr>
          <p:cNvSpPr>
            <a:spLocks noGrp="1"/>
          </p:cNvSpPr>
          <p:nvPr>
            <p:ph idx="1"/>
          </p:nvPr>
        </p:nvSpPr>
        <p:spPr>
          <a:xfrm>
            <a:off x="98321" y="763740"/>
            <a:ext cx="6703142" cy="5922195"/>
          </a:xfrm>
        </p:spPr>
        <p:txBody>
          <a:bodyPr>
            <a:normAutofit fontScale="92500" lnSpcReduction="10000"/>
          </a:bodyPr>
          <a:lstStyle/>
          <a:p>
            <a:r>
              <a:rPr lang="en-IN" b="1" dirty="0"/>
              <a:t>Backend Implementation</a:t>
            </a:r>
          </a:p>
          <a:p>
            <a:r>
              <a:rPr lang="en-IN" b="1" dirty="0"/>
              <a:t>Backend Architecture:</a:t>
            </a:r>
          </a:p>
          <a:p>
            <a:pPr marL="0" indent="0">
              <a:buNone/>
            </a:pPr>
            <a:r>
              <a:rPr lang="en-IN" b="1" dirty="0"/>
              <a:t> 	</a:t>
            </a:r>
            <a:r>
              <a:rPr lang="en-IN" b="1" dirty="0">
                <a:solidFill>
                  <a:srgbClr val="C00000"/>
                </a:solidFill>
              </a:rPr>
              <a:t>Frontend → Flask Backend → PostgreSQL Database</a:t>
            </a:r>
            <a:endParaRPr lang="en-IN" dirty="0">
              <a:solidFill>
                <a:srgbClr val="C00000"/>
              </a:solidFill>
            </a:endParaRPr>
          </a:p>
          <a:p>
            <a:pPr lvl="0"/>
            <a:r>
              <a:rPr lang="en-IN" dirty="0"/>
              <a:t>The frontend (html, </a:t>
            </a:r>
            <a:r>
              <a:rPr lang="en-IN" dirty="0" err="1"/>
              <a:t>css</a:t>
            </a:r>
            <a:r>
              <a:rPr lang="en-IN" dirty="0"/>
              <a:t>, </a:t>
            </a:r>
            <a:r>
              <a:rPr lang="en-IN" dirty="0" err="1"/>
              <a:t>js</a:t>
            </a:r>
            <a:r>
              <a:rPr lang="en-IN" dirty="0"/>
              <a:t>) sends requests using the</a:t>
            </a:r>
            <a:r>
              <a:rPr lang="en-IN" b="1" dirty="0"/>
              <a:t> API</a:t>
            </a:r>
            <a:r>
              <a:rPr lang="en-IN" dirty="0"/>
              <a:t>. </a:t>
            </a:r>
          </a:p>
          <a:p>
            <a:pPr lvl="0"/>
            <a:endParaRPr lang="en-IN" dirty="0"/>
          </a:p>
          <a:p>
            <a:pPr lvl="0"/>
            <a:r>
              <a:rPr lang="en-IN" dirty="0"/>
              <a:t>The backend (</a:t>
            </a:r>
            <a:r>
              <a:rPr lang="en-IN" dirty="0" err="1"/>
              <a:t>py</a:t>
            </a:r>
            <a:r>
              <a:rPr lang="en-IN" dirty="0"/>
              <a:t>) processes requests and applies timetable scheduling logic. </a:t>
            </a:r>
          </a:p>
          <a:p>
            <a:pPr lvl="0"/>
            <a:endParaRPr lang="en-IN" dirty="0"/>
          </a:p>
          <a:p>
            <a:pPr lvl="0"/>
            <a:r>
              <a:rPr lang="en-IN" dirty="0"/>
              <a:t>PostgreSQL stores all application data. </a:t>
            </a:r>
          </a:p>
          <a:p>
            <a:pPr lvl="0"/>
            <a:endParaRPr lang="en-IN" dirty="0"/>
          </a:p>
          <a:p>
            <a:pPr lvl="0"/>
            <a:r>
              <a:rPr lang="en-IN" dirty="0"/>
              <a:t>The backend returns data in </a:t>
            </a:r>
            <a:r>
              <a:rPr lang="en-IN" b="1" dirty="0"/>
              <a:t>JSON format</a:t>
            </a:r>
            <a:r>
              <a:rPr lang="en-IN" dirty="0"/>
              <a:t> through REST API endpoints.</a:t>
            </a:r>
          </a:p>
          <a:p>
            <a:pPr marL="0" indent="0">
              <a:buNone/>
            </a:pPr>
            <a:endParaRPr lang="en-IN" dirty="0"/>
          </a:p>
        </p:txBody>
      </p:sp>
      <p:pic>
        <p:nvPicPr>
          <p:cNvPr id="6" name="Picture 5">
            <a:extLst>
              <a:ext uri="{FF2B5EF4-FFF2-40B4-BE49-F238E27FC236}">
                <a16:creationId xmlns:a16="http://schemas.microsoft.com/office/drawing/2014/main" id="{3E5CFCF4-7522-CC2B-2792-E62FC3641A7C}"/>
              </a:ext>
            </a:extLst>
          </p:cNvPr>
          <p:cNvPicPr>
            <a:picLocks noChangeAspect="1"/>
          </p:cNvPicPr>
          <p:nvPr/>
        </p:nvPicPr>
        <p:blipFill>
          <a:blip r:embed="rId2"/>
          <a:srcRect l="18699" t="2401" r="19285" b="4395"/>
          <a:stretch>
            <a:fillRect/>
          </a:stretch>
        </p:blipFill>
        <p:spPr>
          <a:xfrm>
            <a:off x="6801463" y="1058708"/>
            <a:ext cx="5201266" cy="4267200"/>
          </a:xfrm>
          <a:prstGeom prst="rect">
            <a:avLst/>
          </a:prstGeom>
        </p:spPr>
      </p:pic>
      <p:sp>
        <p:nvSpPr>
          <p:cNvPr id="7" name="TextBox 6">
            <a:extLst>
              <a:ext uri="{FF2B5EF4-FFF2-40B4-BE49-F238E27FC236}">
                <a16:creationId xmlns:a16="http://schemas.microsoft.com/office/drawing/2014/main" id="{6BA27B4F-7373-8D0F-4E48-B1F0ABE64E2E}"/>
              </a:ext>
            </a:extLst>
          </p:cNvPr>
          <p:cNvSpPr txBox="1"/>
          <p:nvPr/>
        </p:nvSpPr>
        <p:spPr>
          <a:xfrm>
            <a:off x="7876867" y="714580"/>
            <a:ext cx="3382297" cy="461665"/>
          </a:xfrm>
          <a:prstGeom prst="rect">
            <a:avLst/>
          </a:prstGeom>
          <a:noFill/>
        </p:spPr>
        <p:txBody>
          <a:bodyPr wrap="square" rtlCol="0">
            <a:spAutoFit/>
          </a:bodyPr>
          <a:lstStyle/>
          <a:p>
            <a:r>
              <a:rPr lang="en-IN" sz="2400" b="1" dirty="0"/>
              <a:t>Backend Architecture</a:t>
            </a:r>
            <a:endParaRPr lang="en-IN" sz="2400" dirty="0"/>
          </a:p>
        </p:txBody>
      </p:sp>
    </p:spTree>
    <p:extLst>
      <p:ext uri="{BB962C8B-B14F-4D97-AF65-F5344CB8AC3E}">
        <p14:creationId xmlns:p14="http://schemas.microsoft.com/office/powerpoint/2010/main" val="154455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DEBD-27BA-FE1E-646C-630ECFD9F392}"/>
              </a:ext>
            </a:extLst>
          </p:cNvPr>
          <p:cNvSpPr>
            <a:spLocks noGrp="1"/>
          </p:cNvSpPr>
          <p:nvPr>
            <p:ph type="title"/>
          </p:nvPr>
        </p:nvSpPr>
        <p:spPr>
          <a:xfrm>
            <a:off x="0" y="-224812"/>
            <a:ext cx="10515600" cy="1325563"/>
          </a:xfrm>
        </p:spPr>
        <p:txBody>
          <a:bodyPr/>
          <a:lstStyle/>
          <a:p>
            <a:r>
              <a:rPr lang="en-IN" dirty="0"/>
              <a:t>Backend Functionalities</a:t>
            </a:r>
          </a:p>
        </p:txBody>
      </p:sp>
      <p:sp>
        <p:nvSpPr>
          <p:cNvPr id="3" name="Content Placeholder 2">
            <a:extLst>
              <a:ext uri="{FF2B5EF4-FFF2-40B4-BE49-F238E27FC236}">
                <a16:creationId xmlns:a16="http://schemas.microsoft.com/office/drawing/2014/main" id="{55EBDD4C-1D39-9531-BF81-F6A44C1B2A64}"/>
              </a:ext>
            </a:extLst>
          </p:cNvPr>
          <p:cNvSpPr>
            <a:spLocks noGrp="1"/>
          </p:cNvSpPr>
          <p:nvPr>
            <p:ph idx="1"/>
          </p:nvPr>
        </p:nvSpPr>
        <p:spPr>
          <a:xfrm>
            <a:off x="90949" y="1253331"/>
            <a:ext cx="6437670" cy="4351338"/>
          </a:xfrm>
        </p:spPr>
        <p:txBody>
          <a:bodyPr/>
          <a:lstStyle/>
          <a:p>
            <a:r>
              <a:rPr lang="en-IN" b="1" dirty="0"/>
              <a:t>1. User Authentication</a:t>
            </a:r>
          </a:p>
          <a:p>
            <a:r>
              <a:rPr lang="en-IN" dirty="0"/>
              <a:t>The backend provides:</a:t>
            </a:r>
          </a:p>
          <a:p>
            <a:pPr lvl="0"/>
            <a:r>
              <a:rPr lang="en-IN" dirty="0"/>
              <a:t>Admin Registration </a:t>
            </a:r>
          </a:p>
          <a:p>
            <a:pPr lvl="0"/>
            <a:r>
              <a:rPr lang="en-IN" dirty="0"/>
              <a:t>Admin Login </a:t>
            </a:r>
          </a:p>
          <a:p>
            <a:pPr lvl="0"/>
            <a:r>
              <a:rPr lang="en-IN" dirty="0"/>
              <a:t>Logout functionality </a:t>
            </a:r>
          </a:p>
          <a:p>
            <a:pPr lvl="0"/>
            <a:r>
              <a:rPr lang="en-IN" dirty="0"/>
              <a:t>Session management </a:t>
            </a:r>
          </a:p>
          <a:p>
            <a:pPr lvl="0"/>
            <a:r>
              <a:rPr lang="en-IN" dirty="0"/>
              <a:t>Password hashing for security</a:t>
            </a:r>
          </a:p>
          <a:p>
            <a:endParaRPr lang="en-IN" dirty="0"/>
          </a:p>
        </p:txBody>
      </p:sp>
      <p:sp>
        <p:nvSpPr>
          <p:cNvPr id="5" name="Rectangle 4">
            <a:extLst>
              <a:ext uri="{FF2B5EF4-FFF2-40B4-BE49-F238E27FC236}">
                <a16:creationId xmlns:a16="http://schemas.microsoft.com/office/drawing/2014/main" id="{ACE61E60-FF0C-026B-1ECF-5A739874B5CA}"/>
              </a:ext>
            </a:extLst>
          </p:cNvPr>
          <p:cNvSpPr/>
          <p:nvPr/>
        </p:nvSpPr>
        <p:spPr>
          <a:xfrm>
            <a:off x="6096000" y="1376515"/>
            <a:ext cx="6005051" cy="42281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@app.route("/api/login", methods=["POST"])</a:t>
            </a:r>
          </a:p>
          <a:p>
            <a:r>
              <a:rPr lang="en-IN" dirty="0"/>
              <a:t>def login():</a:t>
            </a:r>
          </a:p>
          <a:p>
            <a:r>
              <a:rPr lang="en-IN" dirty="0"/>
              <a:t>    data = </a:t>
            </a:r>
            <a:r>
              <a:rPr lang="en-IN" dirty="0" err="1"/>
              <a:t>request.get_json</a:t>
            </a:r>
            <a:r>
              <a:rPr lang="en-IN" dirty="0"/>
              <a:t>(force=True)</a:t>
            </a:r>
          </a:p>
          <a:p>
            <a:endParaRPr lang="en-IN" dirty="0"/>
          </a:p>
          <a:p>
            <a:r>
              <a:rPr lang="en-IN" dirty="0"/>
              <a:t>    </a:t>
            </a:r>
            <a:r>
              <a:rPr lang="en-IN" dirty="0" err="1"/>
              <a:t>login_id</a:t>
            </a:r>
            <a:r>
              <a:rPr lang="en-IN" dirty="0"/>
              <a:t> = </a:t>
            </a:r>
            <a:r>
              <a:rPr lang="en-IN" dirty="0" err="1"/>
              <a:t>data.get</a:t>
            </a:r>
            <a:r>
              <a:rPr lang="en-IN" dirty="0"/>
              <a:t>("</a:t>
            </a:r>
            <a:r>
              <a:rPr lang="en-IN" dirty="0" err="1"/>
              <a:t>login_id</a:t>
            </a:r>
            <a:r>
              <a:rPr lang="en-IN" dirty="0"/>
              <a:t>")</a:t>
            </a:r>
          </a:p>
          <a:p>
            <a:r>
              <a:rPr lang="en-IN" dirty="0"/>
              <a:t>    password = </a:t>
            </a:r>
            <a:r>
              <a:rPr lang="en-IN" dirty="0" err="1"/>
              <a:t>data.get</a:t>
            </a:r>
            <a:r>
              <a:rPr lang="en-IN" dirty="0"/>
              <a:t>("password")</a:t>
            </a:r>
          </a:p>
          <a:p>
            <a:endParaRPr lang="en-IN" dirty="0"/>
          </a:p>
          <a:p>
            <a:pPr algn="ctr"/>
            <a:endParaRPr lang="en-IN" dirty="0"/>
          </a:p>
        </p:txBody>
      </p:sp>
    </p:spTree>
    <p:extLst>
      <p:ext uri="{BB962C8B-B14F-4D97-AF65-F5344CB8AC3E}">
        <p14:creationId xmlns:p14="http://schemas.microsoft.com/office/powerpoint/2010/main" val="3162342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B013-21BD-60D6-A20F-2FD678E61F3C}"/>
              </a:ext>
            </a:extLst>
          </p:cNvPr>
          <p:cNvSpPr>
            <a:spLocks noGrp="1"/>
          </p:cNvSpPr>
          <p:nvPr>
            <p:ph type="title"/>
          </p:nvPr>
        </p:nvSpPr>
        <p:spPr>
          <a:xfrm>
            <a:off x="294968" y="371782"/>
            <a:ext cx="8207477" cy="696759"/>
          </a:xfrm>
        </p:spPr>
        <p:txBody>
          <a:bodyPr>
            <a:noAutofit/>
          </a:bodyPr>
          <a:lstStyle/>
          <a:p>
            <a:r>
              <a:rPr lang="en-IN" sz="3200" b="1" dirty="0"/>
              <a:t>2. Data Management APIs</a:t>
            </a:r>
            <a:br>
              <a:rPr lang="en-IN" sz="3200" b="1" dirty="0"/>
            </a:br>
            <a:endParaRPr lang="en-IN" sz="3200" dirty="0"/>
          </a:p>
        </p:txBody>
      </p:sp>
      <p:sp>
        <p:nvSpPr>
          <p:cNvPr id="3" name="Content Placeholder 2">
            <a:extLst>
              <a:ext uri="{FF2B5EF4-FFF2-40B4-BE49-F238E27FC236}">
                <a16:creationId xmlns:a16="http://schemas.microsoft.com/office/drawing/2014/main" id="{2990A0BF-5A4B-89BC-2276-7B395D9FEE46}"/>
              </a:ext>
            </a:extLst>
          </p:cNvPr>
          <p:cNvSpPr>
            <a:spLocks noGrp="1"/>
          </p:cNvSpPr>
          <p:nvPr>
            <p:ph idx="1"/>
          </p:nvPr>
        </p:nvSpPr>
        <p:spPr>
          <a:xfrm>
            <a:off x="136421" y="1160205"/>
            <a:ext cx="6903475" cy="5326013"/>
          </a:xfrm>
        </p:spPr>
        <p:txBody>
          <a:bodyPr>
            <a:noAutofit/>
          </a:bodyPr>
          <a:lstStyle/>
          <a:p>
            <a:pPr marL="0" indent="0">
              <a:buNone/>
            </a:pPr>
            <a:r>
              <a:rPr lang="en-IN" sz="2400" dirty="0"/>
              <a:t>The backend manages:</a:t>
            </a:r>
          </a:p>
          <a:p>
            <a:pPr lvl="0"/>
            <a:r>
              <a:rPr lang="en-IN" sz="2400" dirty="0"/>
              <a:t>Academic Years </a:t>
            </a:r>
          </a:p>
          <a:p>
            <a:pPr lvl="0"/>
            <a:r>
              <a:rPr lang="en-IN" sz="2400" dirty="0"/>
              <a:t>Divisions and Batches </a:t>
            </a:r>
          </a:p>
          <a:p>
            <a:pPr lvl="0"/>
            <a:r>
              <a:rPr lang="en-IN" sz="2400" dirty="0"/>
              <a:t>Faculty Members </a:t>
            </a:r>
          </a:p>
          <a:p>
            <a:pPr lvl="0"/>
            <a:r>
              <a:rPr lang="en-IN" sz="2400" dirty="0"/>
              <a:t>Classrooms and Labs </a:t>
            </a:r>
          </a:p>
          <a:p>
            <a:pPr lvl="0"/>
            <a:r>
              <a:rPr lang="en-IN" sz="2400" dirty="0"/>
              <a:t>Subjects </a:t>
            </a:r>
          </a:p>
          <a:p>
            <a:pPr lvl="0"/>
            <a:r>
              <a:rPr lang="en-IN" sz="2400" dirty="0"/>
              <a:t>Faculty Allocation </a:t>
            </a:r>
          </a:p>
          <a:p>
            <a:pPr lvl="0"/>
            <a:r>
              <a:rPr lang="en-IN" sz="2400" dirty="0"/>
              <a:t>Institute Working Hours </a:t>
            </a:r>
          </a:p>
          <a:p>
            <a:pPr lvl="0"/>
            <a:r>
              <a:rPr lang="en-IN" sz="2400" dirty="0"/>
              <a:t>Break Timings </a:t>
            </a:r>
          </a:p>
          <a:p>
            <a:r>
              <a:rPr lang="en-IN" sz="2400" dirty="0"/>
              <a:t>All data is stored and retrieved using REST API endpoints.</a:t>
            </a:r>
          </a:p>
          <a:p>
            <a:endParaRPr lang="en-IN" sz="2400" dirty="0"/>
          </a:p>
        </p:txBody>
      </p:sp>
      <p:sp>
        <p:nvSpPr>
          <p:cNvPr id="5" name="Rectangle 4">
            <a:extLst>
              <a:ext uri="{FF2B5EF4-FFF2-40B4-BE49-F238E27FC236}">
                <a16:creationId xmlns:a16="http://schemas.microsoft.com/office/drawing/2014/main" id="{EF4AD3DD-1C70-07C5-ACA5-D9F59AC9E864}"/>
              </a:ext>
            </a:extLst>
          </p:cNvPr>
          <p:cNvSpPr/>
          <p:nvPr/>
        </p:nvSpPr>
        <p:spPr>
          <a:xfrm>
            <a:off x="6469625" y="1261700"/>
            <a:ext cx="5585953" cy="4778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Collect Institute Data</a:t>
            </a:r>
          </a:p>
          <a:p>
            <a:pPr algn="ctr"/>
            <a:r>
              <a:rPr lang="en-US" dirty="0"/>
              <a:t>        ↓</a:t>
            </a:r>
          </a:p>
          <a:p>
            <a:pPr algn="ctr"/>
            <a:r>
              <a:rPr lang="en-US" dirty="0"/>
              <a:t>Collect Faculty &amp; Subjects</a:t>
            </a:r>
          </a:p>
          <a:p>
            <a:pPr algn="ctr"/>
            <a:r>
              <a:rPr lang="en-US" dirty="0"/>
              <a:t>        ↓</a:t>
            </a:r>
          </a:p>
          <a:p>
            <a:pPr algn="ctr"/>
            <a:r>
              <a:rPr lang="en-US" dirty="0"/>
              <a:t>Check Available Rooms</a:t>
            </a:r>
          </a:p>
          <a:p>
            <a:pPr algn="ctr"/>
            <a:r>
              <a:rPr lang="en-US" dirty="0"/>
              <a:t>        ↓</a:t>
            </a:r>
          </a:p>
          <a:p>
            <a:pPr algn="ctr"/>
            <a:r>
              <a:rPr lang="en-US" dirty="0"/>
              <a:t>Check Faculty Availability</a:t>
            </a:r>
          </a:p>
          <a:p>
            <a:pPr algn="ctr"/>
            <a:r>
              <a:rPr lang="en-US" dirty="0"/>
              <a:t>        ↓</a:t>
            </a:r>
          </a:p>
          <a:p>
            <a:pPr algn="ctr"/>
            <a:r>
              <a:rPr lang="en-US" dirty="0"/>
              <a:t>Find Conflict-Free Time Slot</a:t>
            </a:r>
          </a:p>
          <a:p>
            <a:pPr algn="ctr"/>
            <a:r>
              <a:rPr lang="en-US" dirty="0"/>
              <a:t>        ↓</a:t>
            </a:r>
          </a:p>
          <a:p>
            <a:pPr algn="ctr"/>
            <a:r>
              <a:rPr lang="en-US" dirty="0"/>
              <a:t>Allocate Classroom</a:t>
            </a:r>
          </a:p>
          <a:p>
            <a:pPr algn="ctr"/>
            <a:r>
              <a:rPr lang="en-US" dirty="0"/>
              <a:t>        ↓</a:t>
            </a:r>
          </a:p>
          <a:p>
            <a:pPr algn="ctr"/>
            <a:r>
              <a:rPr lang="en-US" dirty="0"/>
              <a:t>Store Timetable in Database</a:t>
            </a:r>
            <a:endParaRPr lang="en-IN" dirty="0"/>
          </a:p>
        </p:txBody>
      </p:sp>
      <p:sp>
        <p:nvSpPr>
          <p:cNvPr id="6" name="TextBox 5">
            <a:extLst>
              <a:ext uri="{FF2B5EF4-FFF2-40B4-BE49-F238E27FC236}">
                <a16:creationId xmlns:a16="http://schemas.microsoft.com/office/drawing/2014/main" id="{BF666EE2-573B-6CC3-8540-9533EF86313A}"/>
              </a:ext>
            </a:extLst>
          </p:cNvPr>
          <p:cNvSpPr txBox="1"/>
          <p:nvPr/>
        </p:nvSpPr>
        <p:spPr>
          <a:xfrm>
            <a:off x="7295534" y="810843"/>
            <a:ext cx="3382298" cy="400110"/>
          </a:xfrm>
          <a:prstGeom prst="rect">
            <a:avLst/>
          </a:prstGeom>
          <a:noFill/>
        </p:spPr>
        <p:txBody>
          <a:bodyPr wrap="square" rtlCol="0">
            <a:spAutoFit/>
          </a:bodyPr>
          <a:lstStyle/>
          <a:p>
            <a:r>
              <a:rPr lang="en-IN" sz="2000" dirty="0"/>
              <a:t>Timetable Generation Flow</a:t>
            </a:r>
          </a:p>
        </p:txBody>
      </p:sp>
    </p:spTree>
    <p:extLst>
      <p:ext uri="{BB962C8B-B14F-4D97-AF65-F5344CB8AC3E}">
        <p14:creationId xmlns:p14="http://schemas.microsoft.com/office/powerpoint/2010/main" val="1484633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FF55A-0657-8278-2BF1-E753CB9DA809}"/>
              </a:ext>
            </a:extLst>
          </p:cNvPr>
          <p:cNvSpPr txBox="1"/>
          <p:nvPr/>
        </p:nvSpPr>
        <p:spPr>
          <a:xfrm>
            <a:off x="96253" y="134754"/>
            <a:ext cx="2531444" cy="461665"/>
          </a:xfrm>
          <a:prstGeom prst="rect">
            <a:avLst/>
          </a:prstGeom>
          <a:noFill/>
        </p:spPr>
        <p:txBody>
          <a:bodyPr wrap="square" rtlCol="0">
            <a:spAutoFit/>
          </a:bodyPr>
          <a:lstStyle/>
          <a:p>
            <a:r>
              <a:rPr lang="en-US" sz="2400" b="1" dirty="0"/>
              <a:t>UML Diagrams:</a:t>
            </a:r>
            <a:endParaRPr lang="en-IN" sz="2400" b="1" dirty="0"/>
          </a:p>
        </p:txBody>
      </p:sp>
      <p:pic>
        <p:nvPicPr>
          <p:cNvPr id="4" name="Picture 3">
            <a:extLst>
              <a:ext uri="{FF2B5EF4-FFF2-40B4-BE49-F238E27FC236}">
                <a16:creationId xmlns:a16="http://schemas.microsoft.com/office/drawing/2014/main" id="{13684C1A-7162-E409-21D5-639142A9A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53" y="675362"/>
            <a:ext cx="6835489" cy="516861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6" name="Picture 5">
            <a:extLst>
              <a:ext uri="{FF2B5EF4-FFF2-40B4-BE49-F238E27FC236}">
                <a16:creationId xmlns:a16="http://schemas.microsoft.com/office/drawing/2014/main" id="{2FB24301-90E7-EA6E-40BD-C5F47DCDA2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7406" y="3257649"/>
            <a:ext cx="6764594" cy="368884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extBox 6">
            <a:extLst>
              <a:ext uri="{FF2B5EF4-FFF2-40B4-BE49-F238E27FC236}">
                <a16:creationId xmlns:a16="http://schemas.microsoft.com/office/drawing/2014/main" id="{8206BD6F-8107-ACD1-0F4C-747EB945A58A}"/>
              </a:ext>
            </a:extLst>
          </p:cNvPr>
          <p:cNvSpPr txBox="1"/>
          <p:nvPr/>
        </p:nvSpPr>
        <p:spPr>
          <a:xfrm>
            <a:off x="7010399" y="675362"/>
            <a:ext cx="1956620" cy="369332"/>
          </a:xfrm>
          <a:prstGeom prst="rect">
            <a:avLst/>
          </a:prstGeom>
          <a:noFill/>
        </p:spPr>
        <p:txBody>
          <a:bodyPr wrap="square" rtlCol="0">
            <a:spAutoFit/>
          </a:bodyPr>
          <a:lstStyle/>
          <a:p>
            <a:r>
              <a:rPr lang="en-IN" dirty="0"/>
              <a:t>1.  Class Diagram</a:t>
            </a:r>
          </a:p>
        </p:txBody>
      </p:sp>
      <p:sp>
        <p:nvSpPr>
          <p:cNvPr id="8" name="Arrow: Left 7">
            <a:extLst>
              <a:ext uri="{FF2B5EF4-FFF2-40B4-BE49-F238E27FC236}">
                <a16:creationId xmlns:a16="http://schemas.microsoft.com/office/drawing/2014/main" id="{0F8BA490-347D-E4E9-1D9F-CACB37E8E97F}"/>
              </a:ext>
            </a:extLst>
          </p:cNvPr>
          <p:cNvSpPr/>
          <p:nvPr/>
        </p:nvSpPr>
        <p:spPr>
          <a:xfrm>
            <a:off x="7108723" y="1044694"/>
            <a:ext cx="570271" cy="285135"/>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5A98A86-506E-8BDF-5FE3-526D92F0615A}"/>
              </a:ext>
            </a:extLst>
          </p:cNvPr>
          <p:cNvSpPr txBox="1"/>
          <p:nvPr/>
        </p:nvSpPr>
        <p:spPr>
          <a:xfrm>
            <a:off x="2812025" y="5997972"/>
            <a:ext cx="2615381" cy="369332"/>
          </a:xfrm>
          <a:prstGeom prst="rect">
            <a:avLst/>
          </a:prstGeom>
          <a:noFill/>
        </p:spPr>
        <p:txBody>
          <a:bodyPr wrap="square" rtlCol="0">
            <a:spAutoFit/>
          </a:bodyPr>
          <a:lstStyle/>
          <a:p>
            <a:r>
              <a:rPr lang="en-IN" dirty="0"/>
              <a:t>2. Component Diagram</a:t>
            </a:r>
          </a:p>
        </p:txBody>
      </p:sp>
      <p:sp>
        <p:nvSpPr>
          <p:cNvPr id="12" name="Arrow: Left 11">
            <a:extLst>
              <a:ext uri="{FF2B5EF4-FFF2-40B4-BE49-F238E27FC236}">
                <a16:creationId xmlns:a16="http://schemas.microsoft.com/office/drawing/2014/main" id="{398C782D-9809-3A59-77B0-F2D18E3CC7F2}"/>
              </a:ext>
            </a:extLst>
          </p:cNvPr>
          <p:cNvSpPr/>
          <p:nvPr/>
        </p:nvSpPr>
        <p:spPr>
          <a:xfrm rot="10800000">
            <a:off x="4675240" y="6353473"/>
            <a:ext cx="570271" cy="285135"/>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5565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64B90A-9FA9-8646-9C73-D9BFE5FC78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9806" y="1690688"/>
            <a:ext cx="8268929" cy="509802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51A5E205-78E7-AA53-04CB-818E7041E37A}"/>
              </a:ext>
            </a:extLst>
          </p:cNvPr>
          <p:cNvSpPr txBox="1"/>
          <p:nvPr/>
        </p:nvSpPr>
        <p:spPr>
          <a:xfrm>
            <a:off x="442451" y="737419"/>
            <a:ext cx="2487561" cy="369332"/>
          </a:xfrm>
          <a:prstGeom prst="rect">
            <a:avLst/>
          </a:prstGeom>
          <a:noFill/>
        </p:spPr>
        <p:txBody>
          <a:bodyPr wrap="square" rtlCol="0">
            <a:spAutoFit/>
          </a:bodyPr>
          <a:lstStyle/>
          <a:p>
            <a:r>
              <a:rPr lang="en-IN" dirty="0"/>
              <a:t>3. Use Case Diagram</a:t>
            </a:r>
          </a:p>
        </p:txBody>
      </p:sp>
      <p:sp>
        <p:nvSpPr>
          <p:cNvPr id="8" name="Arrow: Left 7">
            <a:extLst>
              <a:ext uri="{FF2B5EF4-FFF2-40B4-BE49-F238E27FC236}">
                <a16:creationId xmlns:a16="http://schemas.microsoft.com/office/drawing/2014/main" id="{7A61D7F2-3271-6982-1828-B4ED8A7C9EE6}"/>
              </a:ext>
            </a:extLst>
          </p:cNvPr>
          <p:cNvSpPr/>
          <p:nvPr/>
        </p:nvSpPr>
        <p:spPr>
          <a:xfrm rot="10800000">
            <a:off x="997976" y="1867669"/>
            <a:ext cx="570271" cy="285135"/>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260514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7F1BA-E71A-03BA-C60A-03D2F946A729}"/>
              </a:ext>
            </a:extLst>
          </p:cNvPr>
          <p:cNvSpPr txBox="1"/>
          <p:nvPr/>
        </p:nvSpPr>
        <p:spPr>
          <a:xfrm>
            <a:off x="173255" y="211756"/>
            <a:ext cx="3522846" cy="461665"/>
          </a:xfrm>
          <a:prstGeom prst="rect">
            <a:avLst/>
          </a:prstGeom>
          <a:noFill/>
        </p:spPr>
        <p:txBody>
          <a:bodyPr wrap="square" rtlCol="0">
            <a:spAutoFit/>
          </a:bodyPr>
          <a:lstStyle/>
          <a:p>
            <a:r>
              <a:rPr lang="en-US" sz="2400" b="1" dirty="0"/>
              <a:t>Database Design:</a:t>
            </a:r>
            <a:endParaRPr lang="en-IN" sz="2400" b="1" dirty="0"/>
          </a:p>
        </p:txBody>
      </p:sp>
      <p:pic>
        <p:nvPicPr>
          <p:cNvPr id="4" name="Picture 3">
            <a:extLst>
              <a:ext uri="{FF2B5EF4-FFF2-40B4-BE49-F238E27FC236}">
                <a16:creationId xmlns:a16="http://schemas.microsoft.com/office/drawing/2014/main" id="{F5F9D5AB-A027-EB82-98A4-D9BF36C630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7533" y="673421"/>
            <a:ext cx="10092906" cy="597282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5" name="TextBox 4">
            <a:extLst>
              <a:ext uri="{FF2B5EF4-FFF2-40B4-BE49-F238E27FC236}">
                <a16:creationId xmlns:a16="http://schemas.microsoft.com/office/drawing/2014/main" id="{E2D1218C-7ED2-6DDA-704D-0F7F9FCC2CF3}"/>
              </a:ext>
            </a:extLst>
          </p:cNvPr>
          <p:cNvSpPr txBox="1"/>
          <p:nvPr/>
        </p:nvSpPr>
        <p:spPr>
          <a:xfrm flipH="1">
            <a:off x="5159853" y="257922"/>
            <a:ext cx="2469979" cy="369332"/>
          </a:xfrm>
          <a:prstGeom prst="rect">
            <a:avLst/>
          </a:prstGeom>
          <a:noFill/>
        </p:spPr>
        <p:txBody>
          <a:bodyPr wrap="square" rtlCol="0">
            <a:spAutoFit/>
          </a:bodyPr>
          <a:lstStyle/>
          <a:p>
            <a:r>
              <a:rPr lang="en-IN" dirty="0"/>
              <a:t>1.ER Diagram</a:t>
            </a:r>
          </a:p>
        </p:txBody>
      </p:sp>
      <p:sp>
        <p:nvSpPr>
          <p:cNvPr id="8" name="Arrow: Left 7">
            <a:extLst>
              <a:ext uri="{FF2B5EF4-FFF2-40B4-BE49-F238E27FC236}">
                <a16:creationId xmlns:a16="http://schemas.microsoft.com/office/drawing/2014/main" id="{56573295-2369-202E-800B-0D4E79C4894A}"/>
              </a:ext>
            </a:extLst>
          </p:cNvPr>
          <p:cNvSpPr/>
          <p:nvPr/>
        </p:nvSpPr>
        <p:spPr>
          <a:xfrm rot="10800000">
            <a:off x="463915" y="805785"/>
            <a:ext cx="570271" cy="285135"/>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28264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9F243A24-E2BC-8CB5-DBE5-D139369A73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3" y="2141537"/>
            <a:ext cx="6139214" cy="435133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3" name="Picture 12">
            <a:extLst>
              <a:ext uri="{FF2B5EF4-FFF2-40B4-BE49-F238E27FC236}">
                <a16:creationId xmlns:a16="http://schemas.microsoft.com/office/drawing/2014/main" id="{CB5BD053-CFE5-D0D5-5188-D6AF37B62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5046" y="2141537"/>
            <a:ext cx="6527007" cy="435133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4" name="TextBox 13">
            <a:extLst>
              <a:ext uri="{FF2B5EF4-FFF2-40B4-BE49-F238E27FC236}">
                <a16:creationId xmlns:a16="http://schemas.microsoft.com/office/drawing/2014/main" id="{B552321A-6B6E-C6DE-3712-946BC3023F19}"/>
              </a:ext>
            </a:extLst>
          </p:cNvPr>
          <p:cNvSpPr txBox="1"/>
          <p:nvPr/>
        </p:nvSpPr>
        <p:spPr>
          <a:xfrm>
            <a:off x="0" y="1503431"/>
            <a:ext cx="3234813" cy="369332"/>
          </a:xfrm>
          <a:prstGeom prst="rect">
            <a:avLst/>
          </a:prstGeom>
          <a:noFill/>
        </p:spPr>
        <p:txBody>
          <a:bodyPr wrap="square" rtlCol="0">
            <a:spAutoFit/>
          </a:bodyPr>
          <a:lstStyle/>
          <a:p>
            <a:r>
              <a:rPr lang="en-IN" dirty="0"/>
              <a:t>2.Database Schema</a:t>
            </a:r>
          </a:p>
        </p:txBody>
      </p:sp>
      <p:sp>
        <p:nvSpPr>
          <p:cNvPr id="15" name="TextBox 14">
            <a:extLst>
              <a:ext uri="{FF2B5EF4-FFF2-40B4-BE49-F238E27FC236}">
                <a16:creationId xmlns:a16="http://schemas.microsoft.com/office/drawing/2014/main" id="{A2513167-0DD3-23F4-319E-B6C5BB52E139}"/>
              </a:ext>
            </a:extLst>
          </p:cNvPr>
          <p:cNvSpPr txBox="1"/>
          <p:nvPr/>
        </p:nvSpPr>
        <p:spPr>
          <a:xfrm>
            <a:off x="6096000" y="1688097"/>
            <a:ext cx="3234813" cy="369332"/>
          </a:xfrm>
          <a:prstGeom prst="rect">
            <a:avLst/>
          </a:prstGeom>
          <a:noFill/>
        </p:spPr>
        <p:txBody>
          <a:bodyPr wrap="square" rtlCol="0">
            <a:spAutoFit/>
          </a:bodyPr>
          <a:lstStyle/>
          <a:p>
            <a:r>
              <a:rPr lang="en-IN" dirty="0"/>
              <a:t>3. Database Table Structure</a:t>
            </a:r>
          </a:p>
        </p:txBody>
      </p:sp>
    </p:spTree>
    <p:extLst>
      <p:ext uri="{BB962C8B-B14F-4D97-AF65-F5344CB8AC3E}">
        <p14:creationId xmlns:p14="http://schemas.microsoft.com/office/powerpoint/2010/main" val="39835544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635</Words>
  <Application>Microsoft Office PowerPoint</Application>
  <PresentationFormat>Widescreen</PresentationFormat>
  <Paragraphs>123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Problem Statement:</vt:lpstr>
      <vt:lpstr>Modules &amp; Short Description:</vt:lpstr>
      <vt:lpstr>Technology Stack</vt:lpstr>
      <vt:lpstr>Frontend</vt:lpstr>
      <vt:lpstr>PowerPoint Presentation</vt:lpstr>
      <vt:lpstr> Backend Architecture &amp; Technology </vt:lpstr>
      <vt:lpstr>Backend Functionalities</vt:lpstr>
      <vt:lpstr>2. Data Management APIs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aimlstudent11</dc:creator>
  <cp:lastModifiedBy>rehanjamadar78609@hotmail.com</cp:lastModifiedBy>
  <cp:revision>6</cp:revision>
  <dcterms:created xsi:type="dcterms:W3CDTF">2026-09-08T09:03:50Z</dcterms:created>
  <dcterms:modified xsi:type="dcterms:W3CDTF">2026-09-09T16:51:14Z</dcterms:modified>
</cp:coreProperties>
</file>