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and student/teacher users use two web apps; both call the same Flask REST API (JSON). Flask reads and writes PostgreSQL through psycopg2.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SLID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ject Logo" descr="/home/claude/w/logo_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65760"/>
            <a:ext cx="4114800" cy="4059936"/>
          </a:xfrm>
          <a:prstGeom prst="rect">
            <a:avLst/>
          </a:prstGeom>
        </p:spPr>
      </p:pic>
      <p:sp>
        <p:nvSpPr>
          <p:cNvPr id="3" name="Label"/>
          <p:cNvSpPr txBox="1"/>
          <p:nvPr/>
        </p:nvSpPr>
        <p:spPr>
          <a:xfrm>
            <a:off x="457200" y="274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MINI PROJECT 1</a:t>
            </a:r>
            <a:endParaRPr lang="en-US" sz="1400" dirty="0"/>
          </a:p>
        </p:txBody>
      </p:sp>
      <p:sp>
        <p:nvSpPr>
          <p:cNvPr id="4" name="Project Title"/>
          <p:cNvSpPr txBox="1"/>
          <p:nvPr/>
        </p:nvSpPr>
        <p:spPr>
          <a:xfrm>
            <a:off x="457200" y="6400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OptiTime: The Scheduler</a:t>
            </a:r>
            <a:endParaRPr lang="en-US" sz="3200" dirty="0"/>
          </a:p>
        </p:txBody>
      </p:sp>
      <p:sp>
        <p:nvSpPr>
          <p:cNvPr id="5" name="Members Heading"/>
          <p:cNvSpPr txBox="1"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6" name="Members"/>
          <p:cNvSpPr txBox="1"/>
          <p:nvPr/>
        </p:nvSpPr>
        <p:spPr>
          <a:xfrm>
            <a:off x="457200" y="22402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Parshuram Ghodake – A15 [2526UAI030]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Ajit Jamadade – A18 [2526UAI043]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Rehan Jamadar – A19 [2526UAI192]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Harsh Bhople – A45 [2526UAI122]</a:t>
            </a:r>
            <a:endParaRPr lang="en-US" sz="1400" dirty="0"/>
          </a:p>
        </p:txBody>
      </p:sp>
      <p:sp>
        <p:nvSpPr>
          <p:cNvPr id="7" name="Department and College"/>
          <p:cNvSpPr txBox="1"/>
          <p:nvPr/>
        </p:nvSpPr>
        <p:spPr>
          <a:xfrm>
            <a:off x="457200" y="3840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Department of CSE (AIML) Engineering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Kolhapur Institute of Technology's College of Engineering Kolhapur (Empowered Autonomous)</a:t>
            </a:r>
            <a:endParaRPr lang="en-US" sz="1200" dirty="0"/>
          </a:p>
        </p:txBody>
      </p:sp>
      <p:sp>
        <p:nvSpPr>
          <p:cNvPr id="8" name="Guidance"/>
          <p:cNvSpPr txBox="1"/>
          <p:nvPr/>
        </p:nvSpPr>
        <p:spPr>
          <a:xfrm>
            <a:off x="45720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Under Guidance: Amruta Mam &amp; Nikhil Sir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</a:t>
            </a:r>
            <a:endParaRPr lang="en-US" sz="3400" dirty="0"/>
          </a:p>
        </p:txBody>
      </p:sp>
      <p:sp>
        <p:nvSpPr>
          <p:cNvPr id="3" name="Card Overview of the Project"/>
          <p:cNvSpPr/>
          <p:nvPr/>
        </p:nvSpPr>
        <p:spPr>
          <a:xfrm>
            <a:off x="45720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Badge 0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Badge Text 01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Card Title 01"/>
          <p:cNvSpPr txBox="1"/>
          <p:nvPr/>
        </p:nvSpPr>
        <p:spPr>
          <a:xfrm>
            <a:off x="118872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Overview of the Project</a:t>
            </a:r>
            <a:endParaRPr lang="en-US" sz="1500" dirty="0"/>
          </a:p>
        </p:txBody>
      </p:sp>
      <p:sp>
        <p:nvSpPr>
          <p:cNvPr id="7" name="Card Body 01"/>
          <p:cNvSpPr txBox="1"/>
          <p:nvPr/>
        </p:nvSpPr>
        <p:spPr>
          <a:xfrm>
            <a:off x="640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OptiTime is a web-based timetable scheduler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 enters institute, faculty, subjects &amp; rooms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Generates clash-free timetables automatically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Timetable views, PDF download &amp; student / teacher portals</a:t>
            </a:r>
            <a:endParaRPr lang="en-US" sz="1400" dirty="0"/>
          </a:p>
        </p:txBody>
      </p:sp>
      <p:sp>
        <p:nvSpPr>
          <p:cNvPr id="8" name="Card Why this Topic"/>
          <p:cNvSpPr/>
          <p:nvPr/>
        </p:nvSpPr>
        <p:spPr>
          <a:xfrm>
            <a:off x="329184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9" name="Badge 02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Badge Text 02"/>
          <p:cNvSpPr txBox="1"/>
          <p:nvPr/>
        </p:nvSpPr>
        <p:spPr>
          <a:xfrm>
            <a:off x="3474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Card Title 02"/>
          <p:cNvSpPr txBox="1"/>
          <p:nvPr/>
        </p:nvSpPr>
        <p:spPr>
          <a:xfrm>
            <a:off x="402336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Why this Topic</a:t>
            </a:r>
            <a:endParaRPr lang="en-US" sz="1500" dirty="0"/>
          </a:p>
        </p:txBody>
      </p:sp>
      <p:sp>
        <p:nvSpPr>
          <p:cNvPr id="12" name="Card Body 02"/>
          <p:cNvSpPr txBox="1"/>
          <p:nvPr/>
        </p:nvSpPr>
        <p:spPr>
          <a:xfrm>
            <a:off x="347472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Manual scheduling is slow &amp; error-prone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Faculty availability keeps changing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courses &amp; departments mean more clashes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Needs continuous checking and adjustment</a:t>
            </a:r>
            <a:endParaRPr lang="en-US" sz="1400" dirty="0"/>
          </a:p>
        </p:txBody>
      </p:sp>
      <p:sp>
        <p:nvSpPr>
          <p:cNvPr id="13" name="Card Objectives"/>
          <p:cNvSpPr/>
          <p:nvPr/>
        </p:nvSpPr>
        <p:spPr>
          <a:xfrm>
            <a:off x="6126480" y="1188720"/>
            <a:ext cx="2560320" cy="34747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Badge 03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Badge Text 03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Card Title 03"/>
          <p:cNvSpPr txBox="1"/>
          <p:nvPr/>
        </p:nvSpPr>
        <p:spPr>
          <a:xfrm>
            <a:off x="685800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7" name="Card Body 03"/>
          <p:cNvSpPr txBox="1"/>
          <p:nvPr/>
        </p:nvSpPr>
        <p:spPr>
          <a:xfrm>
            <a:off x="630936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Design a unified smart classroom platform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Generate conflict-free timetables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Improve use of rooms, faculty time &amp; slots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Enable dynamic rescheduling when changes occur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Literature Review / Existing System</a:t>
            </a:r>
            <a:endParaRPr lang="en-US" sz="3400" dirty="0"/>
          </a:p>
        </p:txBody>
      </p:sp>
      <p:graphicFrame>
        <p:nvGraphicFramePr>
          <p:cNvPr id="4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83464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Research Paper</a:t>
                      </a:r>
                      <a:endParaRPr lang="en-US" sz="1500" dirty="0"/>
                    </a:p>
                  </a:txBody>
                  <a:tcPr marL="91440" marR="91440"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Approach / Technology</a:t>
                      </a:r>
                      <a:endParaRPr lang="en-US" sz="1500" dirty="0"/>
                    </a:p>
                  </a:txBody>
                  <a:tcPr marL="91440" marR="91440"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500" dirty="0"/>
                    </a:p>
                  </a:txBody>
                  <a:tcPr marL="91440" marR="91440" marT="73152" marB="73152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3A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Sonawane et al. – Survey on Academic Time Table Scheduling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IJRPR, 2024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Genetic Algorithm, data structures, JavaScript web UI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Complex to implement; needs computing resources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Mahajan et al. – Timely Trigger: A Smart Timetable Generator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IJNRD, 2024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Genetic Algorithm, push notifications, live tracking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Complex for complex needs; accuracy depends on input data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Saini et al. – Optimizing Academic Schedules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IJIRT, 2024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Constraint-based scheduling with room, teacher &amp; student constraints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User interface &amp; algorithms need further refinement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Khokale et al. – Timetable Generator Using AI Methods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tx1"/>
                          </a:solidFill>
                        </a:rPr>
                        <a:t>IRJAEH, 2025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Conflict-free timetables, role-based web interface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Built only for engineering years (SY, TY, final)</a:t>
                      </a:r>
                      <a:endParaRPr lang="en-US" sz="1400" dirty="0"/>
                    </a:p>
                  </a:txBody>
                  <a:tcPr marL="91440" marR="91440" marT="73152" marB="73152" anchor="t">
                    <a:lnL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9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System Architecture</a:t>
            </a:r>
            <a:endParaRPr lang="en-US" sz="3400" dirty="0"/>
          </a:p>
        </p:txBody>
      </p:sp>
      <p:sp>
        <p:nvSpPr>
          <p:cNvPr id="3" name="User Card Admin"/>
          <p:cNvSpPr/>
          <p:nvPr/>
        </p:nvSpPr>
        <p:spPr>
          <a:xfrm>
            <a:off x="457200" y="109728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User Header Admin"/>
          <p:cNvSpPr/>
          <p:nvPr/>
        </p:nvSpPr>
        <p:spPr>
          <a:xfrm>
            <a:off x="457200" y="109728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A3A22"/>
          </a:solidFill>
          <a:ln w="12700">
            <a:solidFill>
              <a:srgbClr val="5A3A22"/>
            </a:solidFill>
            <a:prstDash val="solid"/>
          </a:ln>
        </p:spPr>
      </p:sp>
      <p:sp>
        <p:nvSpPr>
          <p:cNvPr id="5" name="User Title Admin"/>
          <p:cNvSpPr txBox="1"/>
          <p:nvPr/>
        </p:nvSpPr>
        <p:spPr>
          <a:xfrm>
            <a:off x="457200" y="10972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</a:t>
            </a:r>
            <a:endParaRPr lang="en-US" sz="1200" dirty="0"/>
          </a:p>
        </p:txBody>
      </p:sp>
      <p:sp>
        <p:nvSpPr>
          <p:cNvPr id="6" name="User Body Admin"/>
          <p:cNvSpPr txBox="1"/>
          <p:nvPr/>
        </p:nvSpPr>
        <p:spPr>
          <a:xfrm>
            <a:off x="548640" y="1627632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Set up data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Generate &amp; edit timetable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Create portal logins</a:t>
            </a:r>
            <a:endParaRPr lang="en-US" sz="1100" dirty="0"/>
          </a:p>
        </p:txBody>
      </p:sp>
      <p:sp>
        <p:nvSpPr>
          <p:cNvPr id="7" name="Arrow Users 1"/>
          <p:cNvSpPr/>
          <p:nvPr/>
        </p:nvSpPr>
        <p:spPr>
          <a:xfrm>
            <a:off x="1764792" y="1938528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8" name="Frontend Card Admin App"/>
          <p:cNvSpPr/>
          <p:nvPr/>
        </p:nvSpPr>
        <p:spPr>
          <a:xfrm>
            <a:off x="2057400" y="1097280"/>
            <a:ext cx="1508760" cy="169164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Frontend Header Admin App"/>
          <p:cNvSpPr/>
          <p:nvPr/>
        </p:nvSpPr>
        <p:spPr>
          <a:xfrm>
            <a:off x="2057400" y="109728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7A4F30"/>
          </a:solidFill>
          <a:ln w="12700">
            <a:solidFill>
              <a:srgbClr val="7A4F30"/>
            </a:solidFill>
            <a:prstDash val="solid"/>
          </a:ln>
        </p:spPr>
      </p:sp>
      <p:sp>
        <p:nvSpPr>
          <p:cNvPr id="10" name="Frontend Title Admin App"/>
          <p:cNvSpPr txBox="1"/>
          <p:nvPr/>
        </p:nvSpPr>
        <p:spPr>
          <a:xfrm>
            <a:off x="2057400" y="10972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App</a:t>
            </a:r>
            <a:endParaRPr lang="en-US" sz="1200" dirty="0"/>
          </a:p>
        </p:txBody>
      </p:sp>
      <p:sp>
        <p:nvSpPr>
          <p:cNvPr id="11" name="Frontend Body Admin App"/>
          <p:cNvSpPr txBox="1"/>
          <p:nvPr/>
        </p:nvSpPr>
        <p:spPr>
          <a:xfrm>
            <a:off x="2148840" y="1627632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HTML + CSS + 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index.html, style.css, app.js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9-step setup wizard</a:t>
            </a:r>
            <a:endParaRPr lang="en-US" sz="1100" dirty="0"/>
          </a:p>
        </p:txBody>
      </p:sp>
      <p:sp>
        <p:nvSpPr>
          <p:cNvPr id="12" name="Arrow API 1"/>
          <p:cNvSpPr/>
          <p:nvPr/>
        </p:nvSpPr>
        <p:spPr>
          <a:xfrm>
            <a:off x="3593592" y="1810512"/>
            <a:ext cx="493776" cy="256032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User Card Student / Teacher"/>
          <p:cNvSpPr/>
          <p:nvPr/>
        </p:nvSpPr>
        <p:spPr>
          <a:xfrm>
            <a:off x="457200" y="2971800"/>
            <a:ext cx="1280160" cy="16916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User Header Student / Teacher"/>
          <p:cNvSpPr/>
          <p:nvPr/>
        </p:nvSpPr>
        <p:spPr>
          <a:xfrm>
            <a:off x="457200" y="2971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5A3A22"/>
          </a:solidFill>
          <a:ln w="12700">
            <a:solidFill>
              <a:srgbClr val="5A3A22"/>
            </a:solidFill>
            <a:prstDash val="solid"/>
          </a:ln>
        </p:spPr>
      </p:sp>
      <p:sp>
        <p:nvSpPr>
          <p:cNvPr id="15" name="User Title Student / Teacher"/>
          <p:cNvSpPr txBox="1"/>
          <p:nvPr/>
        </p:nvSpPr>
        <p:spPr>
          <a:xfrm>
            <a:off x="457200" y="2971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Student / Teacher</a:t>
            </a:r>
            <a:endParaRPr lang="en-US" sz="1200" dirty="0"/>
          </a:p>
        </p:txBody>
      </p:sp>
      <p:sp>
        <p:nvSpPr>
          <p:cNvPr id="16" name="User Body Student / Teacher"/>
          <p:cNvSpPr txBox="1"/>
          <p:nvPr/>
        </p:nvSpPr>
        <p:spPr>
          <a:xfrm>
            <a:off x="548640" y="3502152"/>
            <a:ext cx="111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View timetable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Download PDF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Get change alerts</a:t>
            </a:r>
            <a:endParaRPr lang="en-US" sz="1100" dirty="0"/>
          </a:p>
        </p:txBody>
      </p:sp>
      <p:sp>
        <p:nvSpPr>
          <p:cNvPr id="17" name="Arrow Users 2"/>
          <p:cNvSpPr/>
          <p:nvPr/>
        </p:nvSpPr>
        <p:spPr>
          <a:xfrm>
            <a:off x="1764792" y="3813048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8" name="Frontend Card Portal App"/>
          <p:cNvSpPr/>
          <p:nvPr/>
        </p:nvSpPr>
        <p:spPr>
          <a:xfrm>
            <a:off x="2057400" y="2971800"/>
            <a:ext cx="1508760" cy="169164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Frontend Header Portal App"/>
          <p:cNvSpPr/>
          <p:nvPr/>
        </p:nvSpPr>
        <p:spPr>
          <a:xfrm>
            <a:off x="2057400" y="297180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7A4F30"/>
          </a:solidFill>
          <a:ln w="12700">
            <a:solidFill>
              <a:srgbClr val="7A4F30"/>
            </a:solidFill>
            <a:prstDash val="solid"/>
          </a:ln>
        </p:spPr>
      </p:sp>
      <p:sp>
        <p:nvSpPr>
          <p:cNvPr id="20" name="Frontend Title Portal App"/>
          <p:cNvSpPr txBox="1"/>
          <p:nvPr/>
        </p:nvSpPr>
        <p:spPr>
          <a:xfrm>
            <a:off x="2057400" y="29718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Portal App</a:t>
            </a:r>
            <a:endParaRPr lang="en-US" sz="1200" dirty="0"/>
          </a:p>
        </p:txBody>
      </p:sp>
      <p:sp>
        <p:nvSpPr>
          <p:cNvPr id="21" name="Frontend Body Portal App"/>
          <p:cNvSpPr txBox="1"/>
          <p:nvPr/>
        </p:nvSpPr>
        <p:spPr>
          <a:xfrm>
            <a:off x="2148840" y="3502152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HTML + CSS + 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portal.html, portal.js</a:t>
            </a:r>
            <a:endParaRPr lang="en-US" sz="11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Read-only views &amp; alerts</a:t>
            </a:r>
            <a:endParaRPr lang="en-US" sz="1100" dirty="0"/>
          </a:p>
        </p:txBody>
      </p:sp>
      <p:sp>
        <p:nvSpPr>
          <p:cNvPr id="22" name="Arrow API 2"/>
          <p:cNvSpPr/>
          <p:nvPr/>
        </p:nvSpPr>
        <p:spPr>
          <a:xfrm>
            <a:off x="3593592" y="3685032"/>
            <a:ext cx="493776" cy="256032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API Label"/>
          <p:cNvSpPr txBox="1"/>
          <p:nvPr/>
        </p:nvSpPr>
        <p:spPr>
          <a:xfrm>
            <a:off x="35661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REST API (JSON)</a:t>
            </a:r>
            <a:endParaRPr lang="en-US" sz="1000" dirty="0"/>
          </a:p>
        </p:txBody>
      </p:sp>
      <p:sp>
        <p:nvSpPr>
          <p:cNvPr id="24" name="Backend Card"/>
          <p:cNvSpPr/>
          <p:nvPr/>
        </p:nvSpPr>
        <p:spPr>
          <a:xfrm>
            <a:off x="4114800" y="1097280"/>
            <a:ext cx="2651760" cy="356616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Backend Header"/>
          <p:cNvSpPr/>
          <p:nvPr/>
        </p:nvSpPr>
        <p:spPr>
          <a:xfrm>
            <a:off x="4114800" y="109728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9A6A44"/>
          </a:solidFill>
          <a:ln w="12700">
            <a:solidFill>
              <a:srgbClr val="9A6A44"/>
            </a:solidFill>
            <a:prstDash val="solid"/>
          </a:ln>
        </p:spPr>
      </p:sp>
      <p:sp>
        <p:nvSpPr>
          <p:cNvPr id="26" name="Backend Title"/>
          <p:cNvSpPr txBox="1"/>
          <p:nvPr/>
        </p:nvSpPr>
        <p:spPr>
          <a:xfrm>
            <a:off x="4114800" y="1097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 Backend (app.py)</a:t>
            </a:r>
            <a:endParaRPr lang="en-US" sz="1300" dirty="0"/>
          </a:p>
        </p:txBody>
      </p:sp>
      <p:sp>
        <p:nvSpPr>
          <p:cNvPr id="27" name="Backend Module Authentication"/>
          <p:cNvSpPr/>
          <p:nvPr/>
        </p:nvSpPr>
        <p:spPr>
          <a:xfrm>
            <a:off x="4206240" y="162763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Backend Module Text 1"/>
          <p:cNvSpPr txBox="1"/>
          <p:nvPr/>
        </p:nvSpPr>
        <p:spPr>
          <a:xfrm>
            <a:off x="4251960" y="16276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Authentication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Admin &amp; portal login, hashed passwords</a:t>
            </a:r>
            <a:endParaRPr lang="en-US" sz="1100" dirty="0"/>
          </a:p>
        </p:txBody>
      </p:sp>
      <p:sp>
        <p:nvSpPr>
          <p:cNvPr id="29" name="Backend Module Setup APIs"/>
          <p:cNvSpPr/>
          <p:nvPr/>
        </p:nvSpPr>
        <p:spPr>
          <a:xfrm>
            <a:off x="5486400" y="162763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Backend Module Text 2"/>
          <p:cNvSpPr txBox="1"/>
          <p:nvPr/>
        </p:nvSpPr>
        <p:spPr>
          <a:xfrm>
            <a:off x="5532120" y="162763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Setup APIs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Institute, breaks, faculty, rooms, subjects</a:t>
            </a:r>
            <a:endParaRPr lang="en-US" sz="1100" dirty="0"/>
          </a:p>
        </p:txBody>
      </p:sp>
      <p:sp>
        <p:nvSpPr>
          <p:cNvPr id="31" name="Backend Module Scheduling Engine"/>
          <p:cNvSpPr/>
          <p:nvPr/>
        </p:nvSpPr>
        <p:spPr>
          <a:xfrm>
            <a:off x="4206240" y="263347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Backend Module Text 3"/>
          <p:cNvSpPr txBox="1"/>
          <p:nvPr/>
        </p:nvSpPr>
        <p:spPr>
          <a:xfrm>
            <a:off x="4251960" y="26334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Scheduling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Rule-based clash-free timetable generation</a:t>
            </a:r>
            <a:endParaRPr lang="en-US" sz="1100" dirty="0"/>
          </a:p>
        </p:txBody>
      </p:sp>
      <p:sp>
        <p:nvSpPr>
          <p:cNvPr id="33" name="Backend Module Manual Edit &amp; Conflicts"/>
          <p:cNvSpPr/>
          <p:nvPr/>
        </p:nvSpPr>
        <p:spPr>
          <a:xfrm>
            <a:off x="5486400" y="263347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Backend Module Text 4"/>
          <p:cNvSpPr txBox="1"/>
          <p:nvPr/>
        </p:nvSpPr>
        <p:spPr>
          <a:xfrm>
            <a:off x="5532120" y="263347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Manual Edit &amp; Conflicts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Edit sessions; unplaced subjects with reasons</a:t>
            </a:r>
            <a:endParaRPr lang="en-US" sz="1100" dirty="0"/>
          </a:p>
        </p:txBody>
      </p:sp>
      <p:sp>
        <p:nvSpPr>
          <p:cNvPr id="35" name="Backend Module Import / Export"/>
          <p:cNvSpPr/>
          <p:nvPr/>
        </p:nvSpPr>
        <p:spPr>
          <a:xfrm>
            <a:off x="4206240" y="363931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Backend Module Text 5"/>
          <p:cNvSpPr txBox="1"/>
          <p:nvPr/>
        </p:nvSpPr>
        <p:spPr>
          <a:xfrm>
            <a:off x="4251960" y="36393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Import / 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Excel, CSV, PDF import; PDF download</a:t>
            </a:r>
            <a:endParaRPr lang="en-US" sz="1100" dirty="0"/>
          </a:p>
        </p:txBody>
      </p:sp>
      <p:sp>
        <p:nvSpPr>
          <p:cNvPr id="37" name="Backend Module Notifications"/>
          <p:cNvSpPr/>
          <p:nvPr/>
        </p:nvSpPr>
        <p:spPr>
          <a:xfrm>
            <a:off x="5486400" y="3639312"/>
            <a:ext cx="1188720" cy="914400"/>
          </a:xfrm>
          <a:prstGeom prst="roundRect">
            <a:avLst>
              <a:gd name="adj" fmla="val 6000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Backend Module Text 6"/>
          <p:cNvSpPr txBox="1"/>
          <p:nvPr/>
        </p:nvSpPr>
        <p:spPr>
          <a:xfrm>
            <a:off x="5532120" y="3639312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Notifications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Alerts to students &amp; teachers on changes</a:t>
            </a:r>
            <a:endParaRPr lang="en-US" sz="1100" dirty="0"/>
          </a:p>
        </p:txBody>
      </p:sp>
      <p:sp>
        <p:nvSpPr>
          <p:cNvPr id="39" name="Arrow SQL"/>
          <p:cNvSpPr/>
          <p:nvPr/>
        </p:nvSpPr>
        <p:spPr>
          <a:xfrm>
            <a:off x="6793992" y="2743200"/>
            <a:ext cx="585216" cy="256032"/>
          </a:xfrm>
          <a:prstGeom prst="left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SQL Label"/>
          <p:cNvSpPr txBox="1"/>
          <p:nvPr/>
        </p:nvSpPr>
        <p:spPr>
          <a:xfrm>
            <a:off x="6766560" y="305409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SQL (psycopg2)</a:t>
            </a:r>
            <a:endParaRPr lang="en-US" sz="1000" dirty="0"/>
          </a:p>
        </p:txBody>
      </p:sp>
      <p:sp>
        <p:nvSpPr>
          <p:cNvPr id="41" name="Database Card"/>
          <p:cNvSpPr/>
          <p:nvPr/>
        </p:nvSpPr>
        <p:spPr>
          <a:xfrm>
            <a:off x="7406640" y="1097280"/>
            <a:ext cx="1280160" cy="3566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2" name="Database Header"/>
          <p:cNvSpPr/>
          <p:nvPr/>
        </p:nvSpPr>
        <p:spPr>
          <a:xfrm>
            <a:off x="7406640" y="109728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B07A52"/>
          </a:solidFill>
          <a:ln w="12700">
            <a:solidFill>
              <a:srgbClr val="B07A52"/>
            </a:solidFill>
            <a:prstDash val="solid"/>
          </a:ln>
        </p:spPr>
      </p:sp>
      <p:sp>
        <p:nvSpPr>
          <p:cNvPr id="43" name="Database Title"/>
          <p:cNvSpPr txBox="1"/>
          <p:nvPr/>
        </p:nvSpPr>
        <p:spPr>
          <a:xfrm>
            <a:off x="7406640" y="1097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scts database</a:t>
            </a:r>
            <a:endParaRPr lang="en-US" sz="1300" dirty="0"/>
          </a:p>
        </p:txBody>
      </p:sp>
      <p:sp>
        <p:nvSpPr>
          <p:cNvPr id="44" name="DB Group Accounts"/>
          <p:cNvSpPr/>
          <p:nvPr/>
        </p:nvSpPr>
        <p:spPr>
          <a:xfrm>
            <a:off x="7498080" y="1737360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5" name="DB Group Text 1"/>
          <p:cNvSpPr txBox="1"/>
          <p:nvPr/>
        </p:nvSpPr>
        <p:spPr>
          <a:xfrm>
            <a:off x="7498080" y="1737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Accounts</a:t>
            </a:r>
            <a:endParaRPr lang="en-US" sz="1000" dirty="0"/>
          </a:p>
        </p:txBody>
      </p:sp>
      <p:sp>
        <p:nvSpPr>
          <p:cNvPr id="46" name="DB Group Institute setup"/>
          <p:cNvSpPr/>
          <p:nvPr/>
        </p:nvSpPr>
        <p:spPr>
          <a:xfrm>
            <a:off x="7498080" y="2313432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7" name="DB Group Text 2"/>
          <p:cNvSpPr txBox="1"/>
          <p:nvPr/>
        </p:nvSpPr>
        <p:spPr>
          <a:xfrm>
            <a:off x="7498080" y="231343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Institute setup</a:t>
            </a:r>
            <a:endParaRPr lang="en-US" sz="1000" dirty="0"/>
          </a:p>
        </p:txBody>
      </p:sp>
      <p:sp>
        <p:nvSpPr>
          <p:cNvPr id="48" name="DB Group Faculty &amp; rooms"/>
          <p:cNvSpPr/>
          <p:nvPr/>
        </p:nvSpPr>
        <p:spPr>
          <a:xfrm>
            <a:off x="7498080" y="2889504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9" name="DB Group Text 3"/>
          <p:cNvSpPr txBox="1"/>
          <p:nvPr/>
        </p:nvSpPr>
        <p:spPr>
          <a:xfrm>
            <a:off x="7498080" y="288950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Faculty &amp; rooms</a:t>
            </a:r>
            <a:endParaRPr lang="en-US" sz="1000" dirty="0"/>
          </a:p>
        </p:txBody>
      </p:sp>
      <p:sp>
        <p:nvSpPr>
          <p:cNvPr id="50" name="DB Group Subjects &amp; allocation"/>
          <p:cNvSpPr/>
          <p:nvPr/>
        </p:nvSpPr>
        <p:spPr>
          <a:xfrm>
            <a:off x="7498080" y="3465576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1" name="DB Group Text 4"/>
          <p:cNvSpPr txBox="1"/>
          <p:nvPr/>
        </p:nvSpPr>
        <p:spPr>
          <a:xfrm>
            <a:off x="7498080" y="34655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Subjects &amp; allocation</a:t>
            </a:r>
            <a:endParaRPr lang="en-US" sz="1000" dirty="0"/>
          </a:p>
        </p:txBody>
      </p:sp>
      <p:sp>
        <p:nvSpPr>
          <p:cNvPr id="52" name="DB Group Timetable &amp; alerts"/>
          <p:cNvSpPr/>
          <p:nvPr/>
        </p:nvSpPr>
        <p:spPr>
          <a:xfrm>
            <a:off x="7498080" y="4041648"/>
            <a:ext cx="109728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3" name="DB Group Text 5"/>
          <p:cNvSpPr txBox="1"/>
          <p:nvPr/>
        </p:nvSpPr>
        <p:spPr>
          <a:xfrm>
            <a:off x="7498080" y="40416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Timetable &amp; alerts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Timetable Generation Flow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457200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Flow Badge 1"/>
          <p:cNvSpPr/>
          <p:nvPr/>
        </p:nvSpPr>
        <p:spPr>
          <a:xfrm>
            <a:off x="566928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Flow Badge Text 1"/>
          <p:cNvSpPr txBox="1"/>
          <p:nvPr/>
        </p:nvSpPr>
        <p:spPr>
          <a:xfrm>
            <a:off x="566928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Flow Title 1"/>
          <p:cNvSpPr txBox="1"/>
          <p:nvPr/>
        </p:nvSpPr>
        <p:spPr>
          <a:xfrm>
            <a:off x="960120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Read Setup Data</a:t>
            </a:r>
            <a:endParaRPr lang="en-US" sz="1300" dirty="0"/>
          </a:p>
        </p:txBody>
      </p:sp>
      <p:sp>
        <p:nvSpPr>
          <p:cNvPr id="7" name="Flow Body 1"/>
          <p:cNvSpPr txBox="1"/>
          <p:nvPr/>
        </p:nvSpPr>
        <p:spPr>
          <a:xfrm>
            <a:off x="566928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Institute hours &amp; breaks build the period grid; faculty, rooms, subjects and allocations are loaded.</a:t>
            </a:r>
            <a:endParaRPr lang="en-US" sz="1200" dirty="0"/>
          </a:p>
        </p:txBody>
      </p:sp>
      <p:sp>
        <p:nvSpPr>
          <p:cNvPr id="8" name="Flow Arrow 1"/>
          <p:cNvSpPr/>
          <p:nvPr/>
        </p:nvSpPr>
        <p:spPr>
          <a:xfrm>
            <a:off x="2313432" y="1810512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Flow Card 2"/>
          <p:cNvSpPr/>
          <p:nvPr/>
        </p:nvSpPr>
        <p:spPr>
          <a:xfrm>
            <a:off x="2587752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low Badge 2"/>
          <p:cNvSpPr/>
          <p:nvPr/>
        </p:nvSpPr>
        <p:spPr>
          <a:xfrm>
            <a:off x="2697480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 Badge Text 2"/>
          <p:cNvSpPr txBox="1"/>
          <p:nvPr/>
        </p:nvSpPr>
        <p:spPr>
          <a:xfrm>
            <a:off x="269748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Flow Title 2"/>
          <p:cNvSpPr txBox="1"/>
          <p:nvPr/>
        </p:nvSpPr>
        <p:spPr>
          <a:xfrm>
            <a:off x="3090672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Build Sessions</a:t>
            </a:r>
            <a:endParaRPr lang="en-US" sz="1300" dirty="0"/>
          </a:p>
        </p:txBody>
      </p:sp>
      <p:sp>
        <p:nvSpPr>
          <p:cNvPr id="13" name="Flow Body 2"/>
          <p:cNvSpPr txBox="1"/>
          <p:nvPr/>
        </p:nvSpPr>
        <p:spPr>
          <a:xfrm>
            <a:off x="2697480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Lecture = 1 period; lab / tutorial = 2 back-to-back periods; batches can be merged.</a:t>
            </a:r>
            <a:endParaRPr lang="en-US" sz="1200" dirty="0"/>
          </a:p>
        </p:txBody>
      </p:sp>
      <p:sp>
        <p:nvSpPr>
          <p:cNvPr id="14" name="Flow Arrow 2"/>
          <p:cNvSpPr/>
          <p:nvPr/>
        </p:nvSpPr>
        <p:spPr>
          <a:xfrm>
            <a:off x="4443984" y="1810512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 Card 3"/>
          <p:cNvSpPr/>
          <p:nvPr/>
        </p:nvSpPr>
        <p:spPr>
          <a:xfrm>
            <a:off x="4718304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Flow Badge 3"/>
          <p:cNvSpPr/>
          <p:nvPr/>
        </p:nvSpPr>
        <p:spPr>
          <a:xfrm>
            <a:off x="4828032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Flow Badge Text 3"/>
          <p:cNvSpPr txBox="1"/>
          <p:nvPr/>
        </p:nvSpPr>
        <p:spPr>
          <a:xfrm>
            <a:off x="4828032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Flow Title 3"/>
          <p:cNvSpPr txBox="1"/>
          <p:nvPr/>
        </p:nvSpPr>
        <p:spPr>
          <a:xfrm>
            <a:off x="5221224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Sort by Priority</a:t>
            </a:r>
            <a:endParaRPr lang="en-US" sz="1300" dirty="0"/>
          </a:p>
        </p:txBody>
      </p:sp>
      <p:sp>
        <p:nvSpPr>
          <p:cNvPr id="19" name="Flow Body 3"/>
          <p:cNvSpPr txBox="1"/>
          <p:nvPr/>
        </p:nvSpPr>
        <p:spPr>
          <a:xfrm>
            <a:off x="4828032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 days, first / last period, combined divisions and labs are placed first.</a:t>
            </a:r>
            <a:endParaRPr lang="en-US" sz="1200" dirty="0"/>
          </a:p>
        </p:txBody>
      </p:sp>
      <p:sp>
        <p:nvSpPr>
          <p:cNvPr id="20" name="Flow Arrow 3"/>
          <p:cNvSpPr/>
          <p:nvPr/>
        </p:nvSpPr>
        <p:spPr>
          <a:xfrm>
            <a:off x="6574536" y="1810512"/>
            <a:ext cx="24688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Flow Card 4"/>
          <p:cNvSpPr/>
          <p:nvPr/>
        </p:nvSpPr>
        <p:spPr>
          <a:xfrm>
            <a:off x="6848856" y="1097280"/>
            <a:ext cx="1828800" cy="169164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Flow Badge 4"/>
          <p:cNvSpPr/>
          <p:nvPr/>
        </p:nvSpPr>
        <p:spPr>
          <a:xfrm>
            <a:off x="6958584" y="12070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Flow Badge Text 4"/>
          <p:cNvSpPr txBox="1"/>
          <p:nvPr/>
        </p:nvSpPr>
        <p:spPr>
          <a:xfrm>
            <a:off x="6958584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Flow Title 4"/>
          <p:cNvSpPr txBox="1"/>
          <p:nvPr/>
        </p:nvSpPr>
        <p:spPr>
          <a:xfrm>
            <a:off x="7351776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Place Sessions</a:t>
            </a:r>
            <a:endParaRPr lang="en-US" sz="1300" dirty="0"/>
          </a:p>
        </p:txBody>
      </p:sp>
      <p:sp>
        <p:nvSpPr>
          <p:cNvPr id="25" name="Flow Body 4"/>
          <p:cNvSpPr txBox="1"/>
          <p:nvPr/>
        </p:nvSpPr>
        <p:spPr>
          <a:xfrm>
            <a:off x="6958584" y="1627632"/>
            <a:ext cx="1609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Division / batch, faculty (daily limit) and room (type &amp; capacity) must all be free.</a:t>
            </a:r>
            <a:endParaRPr lang="en-US" sz="1200" dirty="0"/>
          </a:p>
        </p:txBody>
      </p:sp>
      <p:sp>
        <p:nvSpPr>
          <p:cNvPr id="26" name="Flow Card 5"/>
          <p:cNvSpPr/>
          <p:nvPr/>
        </p:nvSpPr>
        <p:spPr>
          <a:xfrm>
            <a:off x="457200" y="3063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Flow Badge 5"/>
          <p:cNvSpPr/>
          <p:nvPr/>
        </p:nvSpPr>
        <p:spPr>
          <a:xfrm>
            <a:off x="566928" y="3172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Flow Badge Text 5"/>
          <p:cNvSpPr txBox="1"/>
          <p:nvPr/>
        </p:nvSpPr>
        <p:spPr>
          <a:xfrm>
            <a:off x="56692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Flow Title 5"/>
          <p:cNvSpPr txBox="1"/>
          <p:nvPr/>
        </p:nvSpPr>
        <p:spPr>
          <a:xfrm>
            <a:off x="96012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Apply Rules</a:t>
            </a:r>
            <a:endParaRPr lang="en-US" sz="1300" dirty="0"/>
          </a:p>
        </p:txBody>
      </p:sp>
      <p:sp>
        <p:nvSpPr>
          <p:cNvPr id="30" name="Flow Body 5"/>
          <p:cNvSpPr txBox="1"/>
          <p:nvPr/>
        </p:nvSpPr>
        <p:spPr>
          <a:xfrm>
            <a:off x="566928" y="3593592"/>
            <a:ext cx="2386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Labs never in the first two periods; no same subject back-to-back; labs spread over days.</a:t>
            </a:r>
            <a:endParaRPr lang="en-US" sz="1200" dirty="0"/>
          </a:p>
        </p:txBody>
      </p:sp>
      <p:sp>
        <p:nvSpPr>
          <p:cNvPr id="31" name="Flow Arrow 5"/>
          <p:cNvSpPr/>
          <p:nvPr/>
        </p:nvSpPr>
        <p:spPr>
          <a:xfrm>
            <a:off x="3081528" y="3776472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Flow Card 6"/>
          <p:cNvSpPr/>
          <p:nvPr/>
        </p:nvSpPr>
        <p:spPr>
          <a:xfrm>
            <a:off x="3268980" y="3063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Flow Badge 6"/>
          <p:cNvSpPr/>
          <p:nvPr/>
        </p:nvSpPr>
        <p:spPr>
          <a:xfrm>
            <a:off x="3378708" y="3172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Flow Badge Text 6"/>
          <p:cNvSpPr txBox="1"/>
          <p:nvPr/>
        </p:nvSpPr>
        <p:spPr>
          <a:xfrm>
            <a:off x="337870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Flow Title 6"/>
          <p:cNvSpPr txBox="1"/>
          <p:nvPr/>
        </p:nvSpPr>
        <p:spPr>
          <a:xfrm>
            <a:off x="377190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Fill Gaps &amp; Retry</a:t>
            </a:r>
            <a:endParaRPr lang="en-US" sz="1300" dirty="0"/>
          </a:p>
        </p:txBody>
      </p:sp>
      <p:sp>
        <p:nvSpPr>
          <p:cNvPr id="36" name="Flow Body 6"/>
          <p:cNvSpPr txBox="1"/>
          <p:nvPr/>
        </p:nvSpPr>
        <p:spPr>
          <a:xfrm>
            <a:off x="3378708" y="3593592"/>
            <a:ext cx="2386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Unplaced sessions are retried with relaxed spacing; empty periods get extra lectures.</a:t>
            </a:r>
            <a:endParaRPr lang="en-US" sz="1200" dirty="0"/>
          </a:p>
        </p:txBody>
      </p:sp>
      <p:sp>
        <p:nvSpPr>
          <p:cNvPr id="37" name="Flow Arrow 6"/>
          <p:cNvSpPr/>
          <p:nvPr/>
        </p:nvSpPr>
        <p:spPr>
          <a:xfrm>
            <a:off x="5893308" y="3776472"/>
            <a:ext cx="18288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Flow Card 7"/>
          <p:cNvSpPr/>
          <p:nvPr/>
        </p:nvSpPr>
        <p:spPr>
          <a:xfrm>
            <a:off x="6080760" y="3063240"/>
            <a:ext cx="2606040" cy="1691640"/>
          </a:xfrm>
          <a:prstGeom prst="roundRect">
            <a:avLst>
              <a:gd name="adj" fmla="val 4324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Flow Badge 7"/>
          <p:cNvSpPr/>
          <p:nvPr/>
        </p:nvSpPr>
        <p:spPr>
          <a:xfrm>
            <a:off x="6190488" y="31729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Flow Badge Text 7"/>
          <p:cNvSpPr txBox="1"/>
          <p:nvPr/>
        </p:nvSpPr>
        <p:spPr>
          <a:xfrm>
            <a:off x="6190488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Flow Title 7"/>
          <p:cNvSpPr txBox="1"/>
          <p:nvPr/>
        </p:nvSpPr>
        <p:spPr>
          <a:xfrm>
            <a:off x="65836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Save &amp; Report</a:t>
            </a:r>
            <a:endParaRPr lang="en-US" sz="1300" dirty="0"/>
          </a:p>
        </p:txBody>
      </p:sp>
      <p:sp>
        <p:nvSpPr>
          <p:cNvPr id="42" name="Flow Body 7"/>
          <p:cNvSpPr txBox="1"/>
          <p:nvPr/>
        </p:nvSpPr>
        <p:spPr>
          <a:xfrm>
            <a:off x="6190488" y="3593592"/>
            <a:ext cx="23865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Timetable saved; unplaced subjects listed with reasons; portals notified.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System: Modules</a:t>
            </a:r>
            <a:endParaRPr lang="en-US" sz="3400" dirty="0"/>
          </a:p>
        </p:txBody>
      </p:sp>
      <p:sp>
        <p:nvSpPr>
          <p:cNvPr id="3" name="Module Institute Hours"/>
          <p:cNvSpPr/>
          <p:nvPr/>
        </p:nvSpPr>
        <p:spPr>
          <a:xfrm>
            <a:off x="457200" y="105156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Module Text 1"/>
          <p:cNvSpPr txBox="1"/>
          <p:nvPr/>
        </p:nvSpPr>
        <p:spPr>
          <a:xfrm>
            <a:off x="566928" y="105156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Institute Hours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Set working days, teaching hours and holidays.</a:t>
            </a:r>
            <a:endParaRPr lang="en-US" sz="1200" dirty="0"/>
          </a:p>
        </p:txBody>
      </p:sp>
      <p:sp>
        <p:nvSpPr>
          <p:cNvPr id="5" name="Module Rooms &amp; Labs"/>
          <p:cNvSpPr/>
          <p:nvPr/>
        </p:nvSpPr>
        <p:spPr>
          <a:xfrm>
            <a:off x="4663440" y="105156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Module Text 2"/>
          <p:cNvSpPr txBox="1"/>
          <p:nvPr/>
        </p:nvSpPr>
        <p:spPr>
          <a:xfrm>
            <a:off x="4773168" y="105156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Rooms &amp; Labs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 classrooms and labs with capacity and type.</a:t>
            </a:r>
            <a:endParaRPr lang="en-US" sz="1200" dirty="0"/>
          </a:p>
        </p:txBody>
      </p:sp>
      <p:sp>
        <p:nvSpPr>
          <p:cNvPr id="7" name="Module Break Management"/>
          <p:cNvSpPr/>
          <p:nvPr/>
        </p:nvSpPr>
        <p:spPr>
          <a:xfrm>
            <a:off x="457200" y="1655064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Module Text 3"/>
          <p:cNvSpPr txBox="1"/>
          <p:nvPr/>
        </p:nvSpPr>
        <p:spPr>
          <a:xfrm>
            <a:off x="566928" y="165506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Break Management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 short breaks and lunch breaks.</a:t>
            </a:r>
            <a:endParaRPr lang="en-US" sz="1200" dirty="0"/>
          </a:p>
        </p:txBody>
      </p:sp>
      <p:sp>
        <p:nvSpPr>
          <p:cNvPr id="9" name="Module Subjects &amp; Allocation"/>
          <p:cNvSpPr/>
          <p:nvPr/>
        </p:nvSpPr>
        <p:spPr>
          <a:xfrm>
            <a:off x="4663440" y="1655064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Module Text 4"/>
          <p:cNvSpPr txBox="1"/>
          <p:nvPr/>
        </p:nvSpPr>
        <p:spPr>
          <a:xfrm>
            <a:off x="4773168" y="1655064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Subjects &amp; Allocation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Lecture / lab / tutorial, weekly hours, faculty allocation.</a:t>
            </a:r>
            <a:endParaRPr lang="en-US" sz="1200" dirty="0"/>
          </a:p>
        </p:txBody>
      </p:sp>
      <p:sp>
        <p:nvSpPr>
          <p:cNvPr id="11" name="Module Years &amp; Semesters"/>
          <p:cNvSpPr/>
          <p:nvPr/>
        </p:nvSpPr>
        <p:spPr>
          <a:xfrm>
            <a:off x="457200" y="2258568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Module Text 5"/>
          <p:cNvSpPr txBox="1"/>
          <p:nvPr/>
        </p:nvSpPr>
        <p:spPr>
          <a:xfrm>
            <a:off x="566928" y="225856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Years &amp; Semesters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Manage FY, SY, TY, LY and their semesters.</a:t>
            </a:r>
            <a:endParaRPr lang="en-US" sz="1200" dirty="0"/>
          </a:p>
        </p:txBody>
      </p:sp>
      <p:sp>
        <p:nvSpPr>
          <p:cNvPr id="13" name="Module Timetable Generation"/>
          <p:cNvSpPr/>
          <p:nvPr/>
        </p:nvSpPr>
        <p:spPr>
          <a:xfrm>
            <a:off x="4663440" y="2258568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Module Text 6"/>
          <p:cNvSpPr txBox="1"/>
          <p:nvPr/>
        </p:nvSpPr>
        <p:spPr>
          <a:xfrm>
            <a:off x="4773168" y="2258568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Timetable Generation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Creates a clash-free timetable automatically.</a:t>
            </a:r>
            <a:endParaRPr lang="en-US" sz="1200" dirty="0"/>
          </a:p>
        </p:txBody>
      </p:sp>
      <p:sp>
        <p:nvSpPr>
          <p:cNvPr id="15" name="Module Divisions &amp; Batches"/>
          <p:cNvSpPr/>
          <p:nvPr/>
        </p:nvSpPr>
        <p:spPr>
          <a:xfrm>
            <a:off x="457200" y="2862072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Module Text 7"/>
          <p:cNvSpPr txBox="1"/>
          <p:nvPr/>
        </p:nvSpPr>
        <p:spPr>
          <a:xfrm>
            <a:off x="566928" y="2862072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Divisions &amp; Batches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Create divisions (SY A, SY B) and lab batches.</a:t>
            </a:r>
            <a:endParaRPr lang="en-US" sz="1200" dirty="0"/>
          </a:p>
        </p:txBody>
      </p:sp>
      <p:sp>
        <p:nvSpPr>
          <p:cNvPr id="17" name="Module Timetable View &amp; PDF"/>
          <p:cNvSpPr/>
          <p:nvPr/>
        </p:nvSpPr>
        <p:spPr>
          <a:xfrm>
            <a:off x="4663440" y="2862072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Module Text 8"/>
          <p:cNvSpPr txBox="1"/>
          <p:nvPr/>
        </p:nvSpPr>
        <p:spPr>
          <a:xfrm>
            <a:off x="4773168" y="2862072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Timetable View &amp; PDF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Class, faculty, room, lab or master view; PDF download.</a:t>
            </a:r>
            <a:endParaRPr lang="en-US" sz="1200" dirty="0"/>
          </a:p>
        </p:txBody>
      </p:sp>
      <p:sp>
        <p:nvSpPr>
          <p:cNvPr id="19" name="Module Faculty Management"/>
          <p:cNvSpPr/>
          <p:nvPr/>
        </p:nvSpPr>
        <p:spPr>
          <a:xfrm>
            <a:off x="457200" y="3465576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Module Text 9"/>
          <p:cNvSpPr txBox="1"/>
          <p:nvPr/>
        </p:nvSpPr>
        <p:spPr>
          <a:xfrm>
            <a:off x="566928" y="3465576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Faculty Management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 manually or import from Excel / CSV / PDF.</a:t>
            </a:r>
            <a:endParaRPr lang="en-US" sz="1200" dirty="0"/>
          </a:p>
        </p:txBody>
      </p:sp>
      <p:sp>
        <p:nvSpPr>
          <p:cNvPr id="21" name="Module Conflict Detection"/>
          <p:cNvSpPr/>
          <p:nvPr/>
        </p:nvSpPr>
        <p:spPr>
          <a:xfrm>
            <a:off x="4663440" y="3465576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Module Text 10"/>
          <p:cNvSpPr txBox="1"/>
          <p:nvPr/>
        </p:nvSpPr>
        <p:spPr>
          <a:xfrm>
            <a:off x="4773168" y="3465576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Conflict Detection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Lists unplaced subjects with the reason.</a:t>
            </a:r>
            <a:endParaRPr lang="en-US" sz="1200" dirty="0"/>
          </a:p>
        </p:txBody>
      </p:sp>
      <p:sp>
        <p:nvSpPr>
          <p:cNvPr id="23" name="Module Manual Editing"/>
          <p:cNvSpPr/>
          <p:nvPr/>
        </p:nvSpPr>
        <p:spPr>
          <a:xfrm>
            <a:off x="457200" y="406908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Module Text 11"/>
          <p:cNvSpPr txBox="1"/>
          <p:nvPr/>
        </p:nvSpPr>
        <p:spPr>
          <a:xfrm>
            <a:off x="566928" y="406908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Manual Editing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Add or remove a session by hand.</a:t>
            </a:r>
            <a:endParaRPr lang="en-US" sz="1200" dirty="0"/>
          </a:p>
        </p:txBody>
      </p:sp>
      <p:sp>
        <p:nvSpPr>
          <p:cNvPr id="25" name="Module Student / Teacher Portal"/>
          <p:cNvSpPr/>
          <p:nvPr/>
        </p:nvSpPr>
        <p:spPr>
          <a:xfrm>
            <a:off x="4663440" y="4069080"/>
            <a:ext cx="402336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Module Text 12"/>
          <p:cNvSpPr txBox="1"/>
          <p:nvPr/>
        </p:nvSpPr>
        <p:spPr>
          <a:xfrm>
            <a:off x="4773168" y="4069080"/>
            <a:ext cx="3803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Student / Teacher Portal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Read-only timetable with change notifications.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Tools / Technologies</a:t>
            </a:r>
            <a:endParaRPr lang="en-US" sz="3400" dirty="0"/>
          </a:p>
        </p:txBody>
      </p:sp>
      <p:sp>
        <p:nvSpPr>
          <p:cNvPr id="3" name="Tool Frontend"/>
          <p:cNvSpPr/>
          <p:nvPr/>
        </p:nvSpPr>
        <p:spPr>
          <a:xfrm>
            <a:off x="45720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ool Text Frontend"/>
          <p:cNvSpPr txBox="1"/>
          <p:nvPr/>
        </p:nvSpPr>
        <p:spPr>
          <a:xfrm>
            <a:off x="640080" y="12801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CSS, JavaScript</a:t>
            </a:r>
            <a:endParaRPr lang="en-US" sz="1800" dirty="0"/>
          </a:p>
        </p:txBody>
      </p:sp>
      <p:sp>
        <p:nvSpPr>
          <p:cNvPr id="5" name="Tool Backend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6" name="Tool Text Backend"/>
          <p:cNvSpPr txBox="1"/>
          <p:nvPr/>
        </p:nvSpPr>
        <p:spPr>
          <a:xfrm>
            <a:off x="3474720" y="12801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 (Flask)</a:t>
            </a:r>
            <a:endParaRPr lang="en-US" sz="1800" dirty="0"/>
          </a:p>
        </p:txBody>
      </p:sp>
      <p:sp>
        <p:nvSpPr>
          <p:cNvPr id="7" name="Tool API Communication"/>
          <p:cNvSpPr/>
          <p:nvPr/>
        </p:nvSpPr>
        <p:spPr>
          <a:xfrm>
            <a:off x="6126480" y="128016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8" name="Tool Text API Communication"/>
          <p:cNvSpPr txBox="1"/>
          <p:nvPr/>
        </p:nvSpPr>
        <p:spPr>
          <a:xfrm>
            <a:off x="6309360" y="12801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API Communication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JSON + REST API</a:t>
            </a:r>
            <a:endParaRPr lang="en-US" sz="1800" dirty="0"/>
          </a:p>
        </p:txBody>
      </p:sp>
      <p:sp>
        <p:nvSpPr>
          <p:cNvPr id="9" name="Tool Database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Tool Text Database"/>
          <p:cNvSpPr txBox="1"/>
          <p:nvPr/>
        </p:nvSpPr>
        <p:spPr>
          <a:xfrm>
            <a:off x="640080" y="3017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11" name="Tool Database Connector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Tool Text Database Connector"/>
          <p:cNvSpPr txBox="1"/>
          <p:nvPr/>
        </p:nvSpPr>
        <p:spPr>
          <a:xfrm>
            <a:off x="3474720" y="3017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 Connector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psycopg2 (Python PostgreSQL driver)</a:t>
            </a:r>
            <a:endParaRPr lang="en-US" sz="1800" dirty="0"/>
          </a:p>
        </p:txBody>
      </p:sp>
      <p:sp>
        <p:nvSpPr>
          <p:cNvPr id="13" name="Tool Libraries &amp; Tools"/>
          <p:cNvSpPr/>
          <p:nvPr/>
        </p:nvSpPr>
        <p:spPr>
          <a:xfrm>
            <a:off x="612648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4" name="Tool Text Libraries &amp; Tools"/>
          <p:cNvSpPr txBox="1"/>
          <p:nvPr/>
        </p:nvSpPr>
        <p:spPr>
          <a:xfrm>
            <a:off x="6309360" y="3017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Libraries &amp; Tools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ReportLab (PDF), openpyxl / xlrd / pdfplumber (file import), draw.io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References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Sonawane, S. S., et al. (2024). A Survey on Schedule Academic Time Table. International Journal of Research Publication and Reviews (IJRPR), 5(1), 4534–4540.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Mahajan, D., et al. (2024). Timely Trigger: A Smart Timetable Generator. International Journal of Novel Research and Development (IJNRD), 9(4).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Saini, S., et al. (2024). Optimizing Academic Schedules: A Time Table Generator Approach. International Journal of Innovative Research in Technology (IJIRT), 10(11).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Khokale, S. R., et al. (2025). A Survey Paper on Timetable Generator Using AI Methods. International Research Journal on Advanced Engineering Hub (IRJAEH), 3(3), 860–864.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hment">
  <a:themeElements>
    <a:clrScheme name="Parchment">
      <a:dk1>
        <a:srgbClr val="3B2314"/>
      </a:dk1>
      <a:lt1>
        <a:srgbClr val="FFFDF2"/>
      </a:lt1>
      <a:dk2>
        <a:srgbClr val="5A3A22"/>
      </a:dk2>
      <a:lt2>
        <a:srgbClr val="F6F0D8"/>
      </a:lt2>
      <a:accent1>
        <a:srgbClr val="8B5E3C"/>
      </a:accent1>
      <a:accent2>
        <a:srgbClr val="B07A52"/>
      </a:accent2>
      <a:accent3>
        <a:srgbClr val="DDE5AE"/>
      </a:accent3>
      <a:accent4>
        <a:srgbClr val="C9D6E0"/>
      </a:accent4>
      <a:accent5>
        <a:srgbClr val="F5D6D6"/>
      </a:accent5>
      <a:accent6>
        <a:srgbClr val="6B8E4E"/>
      </a:accent6>
      <a:hlink>
        <a:srgbClr val="8B5E3C"/>
      </a:hlink>
      <a:folHlink>
        <a:srgbClr val="B07A52"/>
      </a:folHlink>
    </a:clrScheme>
    <a:fontScheme name="Parchmen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OptiTime: The Scheduler - Mini Project 1</dc:title>
  <dc:subject>PptxGenJS Presentation</dc:subject>
  <dc:creator>Mini Project Team</dc:creator>
  <cp:lastModifiedBy>Mini Project Team</cp:lastModifiedBy>
  <cp:revision>1</cp:revision>
  <dcterms:created xsi:type="dcterms:W3CDTF">2026-10-16T09:57:11Z</dcterms:created>
  <dcterms:modified xsi:type="dcterms:W3CDTF">2026-10-16T09:57:11Z</dcterms:modified>
</cp:coreProperties>
</file>